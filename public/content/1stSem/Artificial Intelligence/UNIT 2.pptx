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58" r:id="rId3"/>
    <p:sldId id="260" r:id="rId4"/>
    <p:sldId id="262" r:id="rId5"/>
    <p:sldId id="263" r:id="rId6"/>
    <p:sldId id="267" r:id="rId7"/>
    <p:sldId id="264" r:id="rId8"/>
    <p:sldId id="268" r:id="rId9"/>
    <p:sldId id="265" r:id="rId10"/>
    <p:sldId id="269" r:id="rId11"/>
    <p:sldId id="266" r:id="rId12"/>
    <p:sldId id="270" r:id="rId13"/>
    <p:sldId id="271" r:id="rId14"/>
    <p:sldId id="272" r:id="rId15"/>
    <p:sldId id="304" r:id="rId16"/>
    <p:sldId id="305" r:id="rId17"/>
    <p:sldId id="306" r:id="rId18"/>
    <p:sldId id="307" r:id="rId19"/>
    <p:sldId id="308" r:id="rId20"/>
    <p:sldId id="309" r:id="rId21"/>
    <p:sldId id="273" r:id="rId22"/>
    <p:sldId id="274" r:id="rId23"/>
    <p:sldId id="277" r:id="rId24"/>
    <p:sldId id="275" r:id="rId25"/>
    <p:sldId id="276" r:id="rId26"/>
    <p:sldId id="278" r:id="rId27"/>
    <p:sldId id="279" r:id="rId28"/>
    <p:sldId id="280" r:id="rId29"/>
    <p:sldId id="281" r:id="rId30"/>
    <p:sldId id="282" r:id="rId31"/>
    <p:sldId id="284" r:id="rId32"/>
    <p:sldId id="283" r:id="rId33"/>
    <p:sldId id="285" r:id="rId34"/>
    <p:sldId id="286" r:id="rId35"/>
    <p:sldId id="287" r:id="rId36"/>
    <p:sldId id="288" r:id="rId37"/>
    <p:sldId id="289" r:id="rId38"/>
    <p:sldId id="290" r:id="rId39"/>
    <p:sldId id="291" r:id="rId40"/>
    <p:sldId id="292" r:id="rId41"/>
    <p:sldId id="293" r:id="rId42"/>
    <p:sldId id="297" r:id="rId43"/>
    <p:sldId id="295" r:id="rId44"/>
    <p:sldId id="298" r:id="rId45"/>
    <p:sldId id="296" r:id="rId46"/>
    <p:sldId id="299" r:id="rId47"/>
    <p:sldId id="300" r:id="rId48"/>
    <p:sldId id="301" r:id="rId49"/>
    <p:sldId id="302" r:id="rId50"/>
    <p:sldId id="30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9313C-8D99-421A-9C0D-7364B04A59D7}" type="datetimeFigureOut">
              <a:rPr lang="en-IN" smtClean="0"/>
              <a:t>16-09-2026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05CE5-D927-489F-8001-F2F5E3A14963}" type="slidenum">
              <a:rPr lang="en-IN" smtClean="0"/>
              <a:t>‹#›</a:t>
            </a:fld>
            <a:endParaRPr lang="en-IN"/>
          </a:p>
        </p:txBody>
      </p:sp>
    </p:spTree>
    <p:extLst>
      <p:ext uri="{BB962C8B-B14F-4D97-AF65-F5344CB8AC3E}">
        <p14:creationId xmlns:p14="http://schemas.microsoft.com/office/powerpoint/2010/main" val="3318812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D05CE5-D927-489F-8001-F2F5E3A14963}" type="slidenum">
              <a:rPr lang="en-IN" smtClean="0"/>
              <a:t>13</a:t>
            </a:fld>
            <a:endParaRPr lang="en-IN"/>
          </a:p>
        </p:txBody>
      </p:sp>
    </p:spTree>
    <p:extLst>
      <p:ext uri="{BB962C8B-B14F-4D97-AF65-F5344CB8AC3E}">
        <p14:creationId xmlns:p14="http://schemas.microsoft.com/office/powerpoint/2010/main" val="4189272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5BD8C4-D4B1-B1A9-89EA-B385999174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71F9FC4-F06F-9111-5AC4-C1007ABEFD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403FA24-3076-1FA2-C78A-4E2F1BFDBFBA}"/>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7F71CA61-DD36-0AD8-9062-C30AB40EFB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C61E9FB-7343-C1CC-E192-ECEAF8579B1A}"/>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254603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82322E-0D41-AE4D-214B-64F027A44A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BAC4D67-E9B5-D48E-BFAC-48EF5548A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CF55A5-4470-1000-C61D-034227433E95}"/>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191E2561-6BE6-7F82-2DD7-D74E412F85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664BF50-C09A-BD8A-5C8D-209C06BBFB19}"/>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1803155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E3F292-21B6-133A-21B1-5941E37E29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1F55E93-32AC-6ADF-14AB-8D3A574AD4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AF74010-3DCE-36FB-31E0-8FBD30CCD7B8}"/>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746A3CD4-3E03-B878-97A8-6A2502C14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D7EEEB8-3BC3-94C0-2A83-DA1BF7A23782}"/>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3679757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109441-5261-E55B-4DA0-72E8D9B4BE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B35DA64-946C-97DC-F4CE-E82FC5B3C4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5FEFD67-C5B3-80D3-5CB6-1776C63361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E6ACB8CA-BE18-50EA-DEE1-AB94784CD613}"/>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6" name="Footer Placeholder 5">
            <a:extLst>
              <a:ext uri="{FF2B5EF4-FFF2-40B4-BE49-F238E27FC236}">
                <a16:creationId xmlns:a16="http://schemas.microsoft.com/office/drawing/2014/main" xmlns="" id="{53800331-4A2D-4962-E9A8-BF55726490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D8DEB34-10CC-F7ED-3F83-8BEEDA9390BC}"/>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245623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A3E593-61C2-F30F-848B-602911F2B6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4C480C7-054C-C0EC-5332-4F9B18498A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F3B3E8D-B557-AB36-16B2-3BB47E8474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1239954-5424-EF4A-3E8A-9848D1756D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19B2D96-D6C6-212A-0318-20392A3D34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3386D41-EE38-2234-BE18-9C76D7B3715F}"/>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8" name="Footer Placeholder 7">
            <a:extLst>
              <a:ext uri="{FF2B5EF4-FFF2-40B4-BE49-F238E27FC236}">
                <a16:creationId xmlns:a16="http://schemas.microsoft.com/office/drawing/2014/main" xmlns="" id="{CCCB8F65-B300-A610-EB0C-D91ECF58DF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884EAC99-FE0F-25B4-994D-84D4FC9D5BBC}"/>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386935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410242-EB97-F0FB-34D6-25C8766F1F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B1015F6-D096-5744-A835-7DB4A56DCBA1}"/>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4" name="Footer Placeholder 3">
            <a:extLst>
              <a:ext uri="{FF2B5EF4-FFF2-40B4-BE49-F238E27FC236}">
                <a16:creationId xmlns:a16="http://schemas.microsoft.com/office/drawing/2014/main" xmlns="" id="{02397172-C466-5499-4A27-7C1578E816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63B2683B-78DE-A9BA-19A7-2620422165AC}"/>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420501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DEBE0F8-E5C5-0EE8-FA95-01119792452F}"/>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3" name="Footer Placeholder 2">
            <a:extLst>
              <a:ext uri="{FF2B5EF4-FFF2-40B4-BE49-F238E27FC236}">
                <a16:creationId xmlns:a16="http://schemas.microsoft.com/office/drawing/2014/main" xmlns="" id="{AC59CF6B-6866-7AA5-B62E-870B6A36F4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54ACF8D7-49EC-A17C-CF5C-C314E820BBFE}"/>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30405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15824E-7E03-591C-06BB-512F1BF839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58932AC-6A8C-5505-A3DC-E04ED0131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B73B1E58-B180-67E9-2836-A8ED11F47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A185329-9D33-4AFD-130F-1399A721A0F5}"/>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6" name="Footer Placeholder 5">
            <a:extLst>
              <a:ext uri="{FF2B5EF4-FFF2-40B4-BE49-F238E27FC236}">
                <a16:creationId xmlns:a16="http://schemas.microsoft.com/office/drawing/2014/main" xmlns="" id="{0E69A8A9-14CA-4CB3-A399-1AB092D010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BBCA7A5-3ECF-2528-888A-7D190C64365B}"/>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292879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AF026E-332C-C930-F712-E59E3504AA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33482268-A249-0153-B658-061DBA7BE2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717882C6-9104-048F-CA08-6066840DE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3F7C3C1-5A01-9366-F3CB-3602F3914BB6}"/>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6" name="Footer Placeholder 5">
            <a:extLst>
              <a:ext uri="{FF2B5EF4-FFF2-40B4-BE49-F238E27FC236}">
                <a16:creationId xmlns:a16="http://schemas.microsoft.com/office/drawing/2014/main" xmlns="" id="{6F7C55FC-F6AF-8EA5-4985-65F1C6946C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872970D-5C08-A401-12E8-ECB2BA4AB45B}"/>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901656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2DC097-DD69-7E45-4CD2-725345F1CF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1A5F65C-C525-18D6-5700-0AAA0427D0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41420A5-82DE-18C0-C5F0-F09C1C0FEC53}"/>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2F3426E9-6EED-F234-C99F-8FEF9077D2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229F6DA-E413-8681-81F4-976C46E2C0D7}"/>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2426077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D7B647-2BFA-752C-999A-C2124A6A57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E2E5719-5DC1-9396-400A-4456B71388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6C7D63A-0338-6296-68E4-158C081E6DBC}"/>
              </a:ext>
            </a:extLst>
          </p:cNvPr>
          <p:cNvSpPr>
            <a:spLocks noGrp="1"/>
          </p:cNvSpPr>
          <p:nvPr>
            <p:ph type="dt" sz="half" idx="10"/>
          </p:nvPr>
        </p:nvSpPr>
        <p:spPr/>
        <p:txBody>
          <a:body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CFE77C63-9E99-44B4-C8A9-32216AAD79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9780A4F-AFD2-BE4A-5B42-9558B41FA9E4}"/>
              </a:ext>
            </a:extLst>
          </p:cNvPr>
          <p:cNvSpPr>
            <a:spLocks noGrp="1"/>
          </p:cNvSpPr>
          <p:nvPr>
            <p:ph type="sldNum" sz="quarter" idx="12"/>
          </p:nvPr>
        </p:nvSpPr>
        <p:spPr/>
        <p:txBody>
          <a:bodyPr/>
          <a:lstStyle/>
          <a:p>
            <a:fld id="{3B5D81B4-DD0C-45D3-8BB6-C2483AFF7166}" type="slidenum">
              <a:rPr lang="en-IN" smtClean="0"/>
              <a:t>‹#›</a:t>
            </a:fld>
            <a:endParaRPr lang="en-IN"/>
          </a:p>
        </p:txBody>
      </p:sp>
    </p:spTree>
    <p:extLst>
      <p:ext uri="{BB962C8B-B14F-4D97-AF65-F5344CB8AC3E}">
        <p14:creationId xmlns:p14="http://schemas.microsoft.com/office/powerpoint/2010/main" val="3641733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0BA19DC-049B-DB62-ED39-3E68E93474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A0E5823-1A5C-E7AD-1EC2-7056C647F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60956F3-3DAC-B506-4F29-C62DDADE8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47298-2DF9-431D-883D-1E4140383B58}" type="datetimeFigureOut">
              <a:rPr lang="en-IN" smtClean="0"/>
              <a:t>16-09-2026</a:t>
            </a:fld>
            <a:endParaRPr lang="en-IN"/>
          </a:p>
        </p:txBody>
      </p:sp>
      <p:sp>
        <p:nvSpPr>
          <p:cNvPr id="5" name="Footer Placeholder 4">
            <a:extLst>
              <a:ext uri="{FF2B5EF4-FFF2-40B4-BE49-F238E27FC236}">
                <a16:creationId xmlns:a16="http://schemas.microsoft.com/office/drawing/2014/main" xmlns="" id="{232DA7D7-C7E0-D917-4BD0-FDEACC88F3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E708202D-DFF7-4071-0CA9-307BEEBB62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5D81B4-DD0C-45D3-8BB6-C2483AFF7166}" type="slidenum">
              <a:rPr lang="en-IN" smtClean="0"/>
              <a:t>‹#›</a:t>
            </a:fld>
            <a:endParaRPr lang="en-IN"/>
          </a:p>
        </p:txBody>
      </p:sp>
    </p:spTree>
    <p:extLst>
      <p:ext uri="{BB962C8B-B14F-4D97-AF65-F5344CB8AC3E}">
        <p14:creationId xmlns:p14="http://schemas.microsoft.com/office/powerpoint/2010/main" val="3090054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08AAF2-2F65-E542-745F-00FB4E1AAA84}"/>
              </a:ext>
            </a:extLst>
          </p:cNvPr>
          <p:cNvSpPr>
            <a:spLocks noGrp="1"/>
          </p:cNvSpPr>
          <p:nvPr>
            <p:ph type="title"/>
          </p:nvPr>
        </p:nvSpPr>
        <p:spPr>
          <a:xfrm>
            <a:off x="838200" y="365125"/>
            <a:ext cx="10515600" cy="4180371"/>
          </a:xfrm>
        </p:spPr>
        <p:txBody>
          <a:bodyPr>
            <a:normAutofit/>
          </a:bodyPr>
          <a:lstStyle/>
          <a:p>
            <a:pPr algn="ctr"/>
            <a:r>
              <a:rPr lang="en-US" sz="6600" dirty="0"/>
              <a:t>UNIT 2</a:t>
            </a:r>
            <a:br>
              <a:rPr lang="en-US" sz="6600" dirty="0"/>
            </a:br>
            <a:r>
              <a:rPr lang="en-US" sz="6600" dirty="0"/>
              <a:t>Intelligent Agents and Problem solving</a:t>
            </a:r>
            <a:endParaRPr lang="en-IN" sz="6600" dirty="0"/>
          </a:p>
        </p:txBody>
      </p:sp>
    </p:spTree>
    <p:extLst>
      <p:ext uri="{BB962C8B-B14F-4D97-AF65-F5344CB8AC3E}">
        <p14:creationId xmlns:p14="http://schemas.microsoft.com/office/powerpoint/2010/main" val="2746371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D4D1E8-8802-A8F1-617D-6CCF705B7B05}"/>
              </a:ext>
            </a:extLst>
          </p:cNvPr>
          <p:cNvSpPr>
            <a:spLocks noGrp="1"/>
          </p:cNvSpPr>
          <p:nvPr>
            <p:ph type="title"/>
          </p:nvPr>
        </p:nvSpPr>
        <p:spPr/>
        <p:txBody>
          <a:bodyPr>
            <a:normAutofit/>
          </a:bodyPr>
          <a:lstStyle/>
          <a:p>
            <a:r>
              <a:rPr lang="en-US" sz="4800" b="1" dirty="0"/>
              <a:t>Introduction to Agents and Environment</a:t>
            </a:r>
            <a:endParaRPr lang="en-IN" sz="4800" b="1" dirty="0"/>
          </a:p>
        </p:txBody>
      </p:sp>
      <p:sp>
        <p:nvSpPr>
          <p:cNvPr id="3" name="Content Placeholder 2">
            <a:extLst>
              <a:ext uri="{FF2B5EF4-FFF2-40B4-BE49-F238E27FC236}">
                <a16:creationId xmlns:a16="http://schemas.microsoft.com/office/drawing/2014/main" xmlns="" id="{4B42345F-08F3-1884-592A-F0A76D48744B}"/>
              </a:ext>
            </a:extLst>
          </p:cNvPr>
          <p:cNvSpPr>
            <a:spLocks noGrp="1"/>
          </p:cNvSpPr>
          <p:nvPr>
            <p:ph idx="1"/>
          </p:nvPr>
        </p:nvSpPr>
        <p:spPr/>
        <p:txBody>
          <a:bodyPr>
            <a:normAutofit fontScale="92500" lnSpcReduction="20000"/>
          </a:bodyPr>
          <a:lstStyle/>
          <a:p>
            <a:pPr marL="0" indent="0" algn="just">
              <a:lnSpc>
                <a:spcPct val="110000"/>
              </a:lnSpc>
              <a:buNone/>
            </a:pPr>
            <a:r>
              <a:rPr lang="en-US" sz="3200" dirty="0">
                <a:latin typeface="Times New Roman" panose="02020603050405020304" pitchFamily="18" charset="0"/>
                <a:cs typeface="Times New Roman" panose="02020603050405020304" pitchFamily="18" charset="0"/>
              </a:rPr>
              <a:t> An Agent is anything that can perceive its environment   through sensors and acts upon that </a:t>
            </a:r>
            <a:r>
              <a:rPr lang="en-US" sz="3200" dirty="0" smtClean="0">
                <a:latin typeface="Times New Roman" panose="02020603050405020304" pitchFamily="18" charset="0"/>
                <a:cs typeface="Times New Roman" panose="02020603050405020304" pitchFamily="18" charset="0"/>
              </a:rPr>
              <a:t>environment </a:t>
            </a:r>
            <a:r>
              <a:rPr lang="en-US" sz="3200" dirty="0">
                <a:latin typeface="Times New Roman" panose="02020603050405020304" pitchFamily="18" charset="0"/>
                <a:cs typeface="Times New Roman" panose="02020603050405020304" pitchFamily="18" charset="0"/>
              </a:rPr>
              <a:t>through effectors.</a:t>
            </a:r>
          </a:p>
          <a:p>
            <a:pPr algn="just">
              <a:lnSpc>
                <a:spcPct val="110000"/>
              </a:lnSpc>
            </a:pPr>
            <a:r>
              <a:rPr lang="en-US" sz="3200" dirty="0">
                <a:latin typeface="Times New Roman" panose="02020603050405020304" pitchFamily="18" charset="0"/>
                <a:cs typeface="Times New Roman" panose="02020603050405020304" pitchFamily="18" charset="0"/>
              </a:rPr>
              <a:t>A human agent has sensory organs such as eyes, ears, nose, tongue and skin parallel to the sensors and other organs such as hands, legs, mouth for effectors.</a:t>
            </a:r>
          </a:p>
          <a:p>
            <a:pPr algn="just">
              <a:lnSpc>
                <a:spcPct val="110000"/>
              </a:lnSpc>
            </a:pPr>
            <a:r>
              <a:rPr lang="en-US" sz="3200" dirty="0">
                <a:latin typeface="Times New Roman" panose="02020603050405020304" pitchFamily="18" charset="0"/>
                <a:cs typeface="Times New Roman" panose="02020603050405020304" pitchFamily="18" charset="0"/>
              </a:rPr>
              <a:t>A robotic agent replaces cameras and infrared range finders for the sensors and various motors and actuators for effectors.</a:t>
            </a:r>
          </a:p>
          <a:p>
            <a:pPr algn="just">
              <a:lnSpc>
                <a:spcPct val="110000"/>
              </a:lnSpc>
            </a:pPr>
            <a:r>
              <a:rPr lang="en-US" sz="3200" dirty="0">
                <a:latin typeface="Times New Roman" panose="02020603050405020304" pitchFamily="18" charset="0"/>
                <a:cs typeface="Times New Roman" panose="02020603050405020304" pitchFamily="18" charset="0"/>
              </a:rPr>
              <a:t>A software agent has encoded bit strings as its programs and actions.</a:t>
            </a: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9257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39E853C0-9CFE-726F-52CB-3F617D961A58}"/>
              </a:ext>
            </a:extLst>
          </p:cNvPr>
          <p:cNvPicPr>
            <a:picLocks noChangeAspect="1"/>
          </p:cNvPicPr>
          <p:nvPr/>
        </p:nvPicPr>
        <p:blipFill>
          <a:blip r:embed="rId2"/>
          <a:stretch>
            <a:fillRect/>
          </a:stretch>
        </p:blipFill>
        <p:spPr>
          <a:xfrm>
            <a:off x="1828800" y="625034"/>
            <a:ext cx="8472668" cy="5567422"/>
          </a:xfrm>
          <a:prstGeom prst="rect">
            <a:avLst/>
          </a:prstGeom>
        </p:spPr>
      </p:pic>
    </p:spTree>
    <p:extLst>
      <p:ext uri="{BB962C8B-B14F-4D97-AF65-F5344CB8AC3E}">
        <p14:creationId xmlns:p14="http://schemas.microsoft.com/office/powerpoint/2010/main" val="3250412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33924D-6320-0527-02B0-06B57DB0BF27}"/>
              </a:ext>
            </a:extLst>
          </p:cNvPr>
          <p:cNvSpPr>
            <a:spLocks noGrp="1"/>
          </p:cNvSpPr>
          <p:nvPr>
            <p:ph type="title"/>
          </p:nvPr>
        </p:nvSpPr>
        <p:spPr/>
        <p:txBody>
          <a:bodyPr/>
          <a:lstStyle/>
          <a:p>
            <a:r>
              <a:rPr lang="en-IN" dirty="0"/>
              <a:t>Types of Agents</a:t>
            </a:r>
          </a:p>
        </p:txBody>
      </p:sp>
      <p:sp>
        <p:nvSpPr>
          <p:cNvPr id="3" name="Content Placeholder 2">
            <a:extLst>
              <a:ext uri="{FF2B5EF4-FFF2-40B4-BE49-F238E27FC236}">
                <a16:creationId xmlns:a16="http://schemas.microsoft.com/office/drawing/2014/main" xmlns="" id="{8B757FA0-F9A6-485C-49B4-7FC6BC8BCF09}"/>
              </a:ext>
            </a:extLst>
          </p:cNvPr>
          <p:cNvSpPr>
            <a:spLocks noGrp="1"/>
          </p:cNvSpPr>
          <p:nvPr>
            <p:ph idx="1"/>
          </p:nvPr>
        </p:nvSpPr>
        <p:spPr/>
        <p:txBody>
          <a:bodyPr>
            <a:normAutofit fontScale="85000" lnSpcReduction="20000"/>
          </a:bodyPr>
          <a:lstStyle/>
          <a:p>
            <a:pPr algn="just">
              <a:lnSpc>
                <a:spcPct val="120000"/>
              </a:lnSpc>
            </a:pPr>
            <a:r>
              <a:rPr lang="en-IN" sz="3200" dirty="0">
                <a:latin typeface="Times New Roman" panose="02020603050405020304" pitchFamily="18" charset="0"/>
                <a:cs typeface="Times New Roman" panose="02020603050405020304" pitchFamily="18" charset="0"/>
              </a:rPr>
              <a:t>Agents can be grouped into five classes based on their degree of perceived intelligence and capability. All these agents can improve their performance and generate better action over the time. These are given below:</a:t>
            </a:r>
          </a:p>
          <a:p>
            <a:pPr algn="just">
              <a:lnSpc>
                <a:spcPct val="11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Simple reflex agents</a:t>
            </a:r>
          </a:p>
          <a:p>
            <a:pPr algn="just">
              <a:lnSpc>
                <a:spcPct val="11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Model-based reflex agents</a:t>
            </a:r>
          </a:p>
          <a:p>
            <a:pPr algn="just">
              <a:lnSpc>
                <a:spcPct val="11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Goal-based agents</a:t>
            </a:r>
          </a:p>
          <a:p>
            <a:pPr algn="just">
              <a:lnSpc>
                <a:spcPct val="11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Utility-based agents</a:t>
            </a:r>
          </a:p>
          <a:p>
            <a:pPr algn="just">
              <a:lnSpc>
                <a:spcPct val="11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Learning Agent</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465886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AD9342-61E6-25AB-1F23-FD8C0F7FA3AA}"/>
              </a:ext>
            </a:extLst>
          </p:cNvPr>
          <p:cNvSpPr>
            <a:spLocks noGrp="1"/>
          </p:cNvSpPr>
          <p:nvPr>
            <p:ph type="title"/>
          </p:nvPr>
        </p:nvSpPr>
        <p:spPr/>
        <p:txBody>
          <a:bodyPr/>
          <a:lstStyle/>
          <a:p>
            <a:r>
              <a:rPr lang="en-IN" dirty="0"/>
              <a:t>Simple reflex agents</a:t>
            </a:r>
          </a:p>
        </p:txBody>
      </p:sp>
      <p:sp>
        <p:nvSpPr>
          <p:cNvPr id="3" name="Content Placeholder 2">
            <a:extLst>
              <a:ext uri="{FF2B5EF4-FFF2-40B4-BE49-F238E27FC236}">
                <a16:creationId xmlns:a16="http://schemas.microsoft.com/office/drawing/2014/main" xmlns="" id="{2EF0D519-1A52-39D4-D719-71461D074236}"/>
              </a:ext>
            </a:extLst>
          </p:cNvPr>
          <p:cNvSpPr>
            <a:spLocks noGrp="1"/>
          </p:cNvSpPr>
          <p:nvPr>
            <p:ph idx="1"/>
          </p:nvPr>
        </p:nvSpPr>
        <p:spPr/>
        <p:txBody>
          <a:bodyPr/>
          <a:lstStyle/>
          <a:p>
            <a:pPr algn="just">
              <a:lnSpc>
                <a:spcPct val="100000"/>
              </a:lnSpc>
            </a:pPr>
            <a:r>
              <a:rPr lang="en-IN" dirty="0">
                <a:latin typeface="Times New Roman" panose="02020603050405020304" pitchFamily="18" charset="0"/>
                <a:cs typeface="Times New Roman" panose="02020603050405020304" pitchFamily="18" charset="0"/>
              </a:rPr>
              <a:t>The simple reflex agents are the simplest agents. These agents take decisions on the basis of the current percept and ignore the rest of the percept history.</a:t>
            </a:r>
          </a:p>
          <a:p>
            <a:pPr algn="just">
              <a:lnSpc>
                <a:spcPct val="100000"/>
              </a:lnSpc>
            </a:pPr>
            <a:r>
              <a:rPr lang="en-IN" dirty="0">
                <a:latin typeface="Times New Roman" panose="02020603050405020304" pitchFamily="18" charset="0"/>
                <a:cs typeface="Times New Roman" panose="02020603050405020304" pitchFamily="18" charset="0"/>
              </a:rPr>
              <a:t>These agents only succeed in the fully observable environment.</a:t>
            </a:r>
          </a:p>
          <a:p>
            <a:pPr algn="just">
              <a:lnSpc>
                <a:spcPct val="100000"/>
              </a:lnSpc>
            </a:pPr>
            <a:r>
              <a:rPr lang="en-IN" dirty="0">
                <a:latin typeface="Times New Roman" panose="02020603050405020304" pitchFamily="18" charset="0"/>
                <a:cs typeface="Times New Roman" panose="02020603050405020304" pitchFamily="18" charset="0"/>
              </a:rPr>
              <a:t>The simple reflex agent does not consider any part of precepts history during their decision and action process.</a:t>
            </a:r>
          </a:p>
          <a:p>
            <a:pPr algn="just">
              <a:lnSpc>
                <a:spcPct val="100000"/>
              </a:lnSpc>
            </a:pPr>
            <a:r>
              <a:rPr lang="en-IN" dirty="0">
                <a:latin typeface="Times New Roman" panose="02020603050405020304" pitchFamily="18" charset="0"/>
                <a:cs typeface="Times New Roman" panose="02020603050405020304" pitchFamily="18" charset="0"/>
              </a:rPr>
              <a:t>The simple reflex agent works on condition-action rule which means it maps the current state to action. Such as a Room cleaner agent, it works only if there is dirt in the room.</a:t>
            </a:r>
          </a:p>
        </p:txBody>
      </p:sp>
    </p:spTree>
    <p:extLst>
      <p:ext uri="{BB962C8B-B14F-4D97-AF65-F5344CB8AC3E}">
        <p14:creationId xmlns:p14="http://schemas.microsoft.com/office/powerpoint/2010/main" val="239725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FE1CEE76-76A8-E8D9-ECD2-99AC286D147E}"/>
              </a:ext>
            </a:extLst>
          </p:cNvPr>
          <p:cNvPicPr>
            <a:picLocks noChangeAspect="1"/>
          </p:cNvPicPr>
          <p:nvPr/>
        </p:nvPicPr>
        <p:blipFill>
          <a:blip r:embed="rId2"/>
          <a:stretch>
            <a:fillRect/>
          </a:stretch>
        </p:blipFill>
        <p:spPr>
          <a:xfrm>
            <a:off x="2361236" y="821803"/>
            <a:ext cx="7662440" cy="5440101"/>
          </a:xfrm>
          <a:prstGeom prst="rect">
            <a:avLst/>
          </a:prstGeom>
        </p:spPr>
      </p:pic>
    </p:spTree>
    <p:extLst>
      <p:ext uri="{BB962C8B-B14F-4D97-AF65-F5344CB8AC3E}">
        <p14:creationId xmlns:p14="http://schemas.microsoft.com/office/powerpoint/2010/main" val="218146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B759BB-261B-3F82-0EE3-F692DC2B0964}"/>
              </a:ext>
            </a:extLst>
          </p:cNvPr>
          <p:cNvSpPr>
            <a:spLocks noGrp="1"/>
          </p:cNvSpPr>
          <p:nvPr>
            <p:ph type="title"/>
          </p:nvPr>
        </p:nvSpPr>
        <p:spPr/>
        <p:txBody>
          <a:bodyPr/>
          <a:lstStyle/>
          <a:p>
            <a:r>
              <a:rPr lang="en-IN" dirty="0"/>
              <a:t>Model-based reflex agents</a:t>
            </a:r>
          </a:p>
        </p:txBody>
      </p:sp>
      <p:sp>
        <p:nvSpPr>
          <p:cNvPr id="3" name="Content Placeholder 2">
            <a:extLst>
              <a:ext uri="{FF2B5EF4-FFF2-40B4-BE49-F238E27FC236}">
                <a16:creationId xmlns:a16="http://schemas.microsoft.com/office/drawing/2014/main" xmlns="" id="{B6DDF07B-A9EC-DF12-B855-7B344E21EEDB}"/>
              </a:ext>
            </a:extLst>
          </p:cNvPr>
          <p:cNvSpPr>
            <a:spLocks noGrp="1"/>
          </p:cNvSpPr>
          <p:nvPr>
            <p:ph idx="1"/>
          </p:nvPr>
        </p:nvSpPr>
        <p:spPr/>
        <p:txBody>
          <a:bodyPr/>
          <a:lstStyle/>
          <a:p>
            <a:pPr algn="just"/>
            <a:r>
              <a:rPr lang="en-IN" dirty="0"/>
              <a:t>A Model-based Agent maintains an internal state to keep track of parts of the environment that are not directly observable.</a:t>
            </a:r>
          </a:p>
          <a:p>
            <a:pPr algn="just"/>
            <a:r>
              <a:rPr lang="en-IN" dirty="0"/>
              <a:t>Used in partially observable environments.</a:t>
            </a:r>
          </a:p>
          <a:p>
            <a:pPr algn="just"/>
            <a:r>
              <a:rPr lang="en-IN" dirty="0"/>
              <a:t>Stores information from previous precepts.</a:t>
            </a:r>
          </a:p>
          <a:p>
            <a:pPr algn="just"/>
            <a:r>
              <a:rPr lang="en-IN" dirty="0"/>
              <a:t>Updates its internal state continuously.</a:t>
            </a:r>
          </a:p>
          <a:p>
            <a:pPr algn="just"/>
            <a:r>
              <a:rPr lang="en-IN" dirty="0"/>
              <a:t>Uses a model of the world to predict changes in the environments.</a:t>
            </a:r>
          </a:p>
          <a:p>
            <a:pPr algn="just"/>
            <a:r>
              <a:rPr lang="en-IN" dirty="0"/>
              <a:t>Considers how its own actions affect the environment.</a:t>
            </a:r>
          </a:p>
        </p:txBody>
      </p:sp>
    </p:spTree>
    <p:extLst>
      <p:ext uri="{BB962C8B-B14F-4D97-AF65-F5344CB8AC3E}">
        <p14:creationId xmlns:p14="http://schemas.microsoft.com/office/powerpoint/2010/main" val="1452199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10FA3DCF-02C2-044E-344D-47ECF5BC9260}"/>
              </a:ext>
            </a:extLst>
          </p:cNvPr>
          <p:cNvPicPr>
            <a:picLocks noChangeAspect="1"/>
          </p:cNvPicPr>
          <p:nvPr/>
        </p:nvPicPr>
        <p:blipFill>
          <a:blip r:embed="rId2"/>
          <a:stretch>
            <a:fillRect/>
          </a:stretch>
        </p:blipFill>
        <p:spPr>
          <a:xfrm>
            <a:off x="1516284" y="335667"/>
            <a:ext cx="9236597" cy="5717892"/>
          </a:xfrm>
          <a:prstGeom prst="rect">
            <a:avLst/>
          </a:prstGeom>
        </p:spPr>
      </p:pic>
    </p:spTree>
    <p:extLst>
      <p:ext uri="{BB962C8B-B14F-4D97-AF65-F5344CB8AC3E}">
        <p14:creationId xmlns:p14="http://schemas.microsoft.com/office/powerpoint/2010/main" val="127986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90F214-0E88-A8C4-7E17-E21F3E1E0149}"/>
              </a:ext>
            </a:extLst>
          </p:cNvPr>
          <p:cNvSpPr>
            <a:spLocks noGrp="1"/>
          </p:cNvSpPr>
          <p:nvPr>
            <p:ph type="title"/>
          </p:nvPr>
        </p:nvSpPr>
        <p:spPr/>
        <p:txBody>
          <a:bodyPr/>
          <a:lstStyle/>
          <a:p>
            <a:r>
              <a:rPr lang="en-IN" dirty="0"/>
              <a:t>Goal-based Agents</a:t>
            </a:r>
          </a:p>
        </p:txBody>
      </p:sp>
      <p:sp>
        <p:nvSpPr>
          <p:cNvPr id="3" name="Content Placeholder 2">
            <a:extLst>
              <a:ext uri="{FF2B5EF4-FFF2-40B4-BE49-F238E27FC236}">
                <a16:creationId xmlns:a16="http://schemas.microsoft.com/office/drawing/2014/main" xmlns="" id="{04EFA967-1D36-351A-AAFA-72155C2F34C0}"/>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A Goal-Based Agent chooses actions based on the goals it wants to achieve. It considers the current state, possible future states, and selects the action that leads to the desired goal.</a:t>
            </a:r>
            <a:endParaRPr lang="en-IN"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Uses goal information to make decisions. </a:t>
            </a:r>
          </a:p>
          <a:p>
            <a:pPr algn="just">
              <a:lnSpc>
                <a:spcPct val="100000"/>
              </a:lnSpc>
            </a:pPr>
            <a:r>
              <a:rPr lang="en-US" dirty="0">
                <a:latin typeface="Times New Roman" panose="02020603050405020304" pitchFamily="18" charset="0"/>
                <a:cs typeface="Times New Roman" panose="02020603050405020304" pitchFamily="18" charset="0"/>
              </a:rPr>
              <a:t>Evaluates the outcomes of different actions. </a:t>
            </a:r>
          </a:p>
          <a:p>
            <a:pPr algn="just">
              <a:lnSpc>
                <a:spcPct val="100000"/>
              </a:lnSpc>
            </a:pPr>
            <a:r>
              <a:rPr lang="en-US" dirty="0">
                <a:latin typeface="Times New Roman" panose="02020603050405020304" pitchFamily="18" charset="0"/>
                <a:cs typeface="Times New Roman" panose="02020603050405020304" pitchFamily="18" charset="0"/>
              </a:rPr>
              <a:t>Can plan a sequence of actions to reach a goal. </a:t>
            </a:r>
          </a:p>
          <a:p>
            <a:pPr algn="just">
              <a:lnSpc>
                <a:spcPct val="100000"/>
              </a:lnSpc>
            </a:pPr>
            <a:r>
              <a:rPr lang="en-US" dirty="0">
                <a:latin typeface="Times New Roman" panose="02020603050405020304" pitchFamily="18" charset="0"/>
                <a:cs typeface="Times New Roman" panose="02020603050405020304" pitchFamily="18" charset="0"/>
              </a:rPr>
              <a:t>More flexible than reflex agents because goals can be changed easily.</a:t>
            </a:r>
          </a:p>
          <a:p>
            <a:endParaRPr lang="en-IN" dirty="0"/>
          </a:p>
        </p:txBody>
      </p:sp>
    </p:spTree>
    <p:extLst>
      <p:ext uri="{BB962C8B-B14F-4D97-AF65-F5344CB8AC3E}">
        <p14:creationId xmlns:p14="http://schemas.microsoft.com/office/powerpoint/2010/main" val="1315472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9C8A582E-8869-1EC7-8E58-F3966BF123A5}"/>
              </a:ext>
            </a:extLst>
          </p:cNvPr>
          <p:cNvPicPr>
            <a:picLocks noChangeAspect="1"/>
          </p:cNvPicPr>
          <p:nvPr/>
        </p:nvPicPr>
        <p:blipFill>
          <a:blip r:embed="rId2"/>
          <a:stretch>
            <a:fillRect/>
          </a:stretch>
        </p:blipFill>
        <p:spPr>
          <a:xfrm>
            <a:off x="1284791" y="509286"/>
            <a:ext cx="9907928" cy="5810491"/>
          </a:xfrm>
          <a:prstGeom prst="rect">
            <a:avLst/>
          </a:prstGeom>
        </p:spPr>
      </p:pic>
    </p:spTree>
    <p:extLst>
      <p:ext uri="{BB962C8B-B14F-4D97-AF65-F5344CB8AC3E}">
        <p14:creationId xmlns:p14="http://schemas.microsoft.com/office/powerpoint/2010/main" val="8885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10C5FD-D938-102F-662B-E7356D752732}"/>
              </a:ext>
            </a:extLst>
          </p:cNvPr>
          <p:cNvSpPr>
            <a:spLocks noGrp="1"/>
          </p:cNvSpPr>
          <p:nvPr>
            <p:ph type="title"/>
          </p:nvPr>
        </p:nvSpPr>
        <p:spPr/>
        <p:txBody>
          <a:bodyPr/>
          <a:lstStyle/>
          <a:p>
            <a:r>
              <a:rPr lang="en-IN" dirty="0"/>
              <a:t>Utility-based agents </a:t>
            </a:r>
          </a:p>
        </p:txBody>
      </p:sp>
      <p:sp>
        <p:nvSpPr>
          <p:cNvPr id="3" name="Content Placeholder 2">
            <a:extLst>
              <a:ext uri="{FF2B5EF4-FFF2-40B4-BE49-F238E27FC236}">
                <a16:creationId xmlns:a16="http://schemas.microsoft.com/office/drawing/2014/main" xmlns="" id="{02965C15-EE47-6026-D73A-213DCCDA7FDF}"/>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Goals alone are not always sufficient to make the best decision. </a:t>
            </a:r>
          </a:p>
          <a:p>
            <a:pPr algn="just">
              <a:lnSpc>
                <a:spcPct val="100000"/>
              </a:lnSpc>
            </a:pPr>
            <a:r>
              <a:rPr lang="en-US" dirty="0">
                <a:latin typeface="Times New Roman" panose="02020603050405020304" pitchFamily="18" charset="0"/>
                <a:cs typeface="Times New Roman" panose="02020603050405020304" pitchFamily="18" charset="0"/>
              </a:rPr>
              <a:t>A Utility-Based Agent compares different possible outcomes and chooses the one with the highest utility (best overall result). </a:t>
            </a:r>
          </a:p>
          <a:p>
            <a:pPr algn="just">
              <a:lnSpc>
                <a:spcPct val="100000"/>
              </a:lnSpc>
            </a:pPr>
            <a:r>
              <a:rPr lang="en-US" dirty="0">
                <a:latin typeface="Times New Roman" panose="02020603050405020304" pitchFamily="18" charset="0"/>
                <a:cs typeface="Times New Roman" panose="02020603050405020304" pitchFamily="18" charset="0"/>
              </a:rPr>
              <a:t>Utility represents how desirable or beneficial a state is for the agent.</a:t>
            </a:r>
          </a:p>
          <a:p>
            <a:pPr algn="just">
              <a:lnSpc>
                <a:spcPct val="100000"/>
              </a:lnSpc>
            </a:pPr>
            <a:r>
              <a:rPr lang="en-US" dirty="0">
                <a:latin typeface="Times New Roman" panose="02020603050405020304" pitchFamily="18" charset="0"/>
                <a:cs typeface="Times New Roman" panose="02020603050405020304" pitchFamily="18" charset="0"/>
              </a:rPr>
              <a:t>Example: A taxi agent may choose a route that is not only fast but also safe, reliable, and economical. </a:t>
            </a:r>
          </a:p>
          <a:p>
            <a:endParaRPr lang="en-IN" dirty="0"/>
          </a:p>
        </p:txBody>
      </p:sp>
    </p:spTree>
    <p:extLst>
      <p:ext uri="{BB962C8B-B14F-4D97-AF65-F5344CB8AC3E}">
        <p14:creationId xmlns:p14="http://schemas.microsoft.com/office/powerpoint/2010/main" val="4062349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76BB7D9A-739C-F122-C3EF-F4DE1B771F0F}"/>
              </a:ext>
            </a:extLst>
          </p:cNvPr>
          <p:cNvPicPr>
            <a:picLocks noChangeAspect="1"/>
          </p:cNvPicPr>
          <p:nvPr/>
        </p:nvPicPr>
        <p:blipFill>
          <a:blip r:embed="rId2"/>
          <a:stretch>
            <a:fillRect/>
          </a:stretch>
        </p:blipFill>
        <p:spPr>
          <a:xfrm>
            <a:off x="1655180" y="462986"/>
            <a:ext cx="9167149" cy="5636871"/>
          </a:xfrm>
          <a:prstGeom prst="rect">
            <a:avLst/>
          </a:prstGeom>
        </p:spPr>
      </p:pic>
    </p:spTree>
    <p:extLst>
      <p:ext uri="{BB962C8B-B14F-4D97-AF65-F5344CB8AC3E}">
        <p14:creationId xmlns:p14="http://schemas.microsoft.com/office/powerpoint/2010/main" val="124728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1433EF-9FA5-471E-9428-ACF02C981456}"/>
              </a:ext>
            </a:extLst>
          </p:cNvPr>
          <p:cNvSpPr>
            <a:spLocks noGrp="1"/>
          </p:cNvSpPr>
          <p:nvPr>
            <p:ph type="title"/>
          </p:nvPr>
        </p:nvSpPr>
        <p:spPr/>
        <p:txBody>
          <a:bodyPr/>
          <a:lstStyle/>
          <a:p>
            <a:r>
              <a:rPr lang="en-IN" dirty="0"/>
              <a:t>Learning agents</a:t>
            </a:r>
          </a:p>
        </p:txBody>
      </p:sp>
      <p:sp>
        <p:nvSpPr>
          <p:cNvPr id="3" name="Content Placeholder 2">
            <a:extLst>
              <a:ext uri="{FF2B5EF4-FFF2-40B4-BE49-F238E27FC236}">
                <a16:creationId xmlns:a16="http://schemas.microsoft.com/office/drawing/2014/main" xmlns="" id="{24863B6E-BEB6-2F6F-F8F4-443DAC848332}"/>
              </a:ext>
            </a:extLst>
          </p:cNvPr>
          <p:cNvSpPr>
            <a:spLocks noGrp="1"/>
          </p:cNvSpPr>
          <p:nvPr>
            <p:ph idx="1"/>
          </p:nvPr>
        </p:nvSpPr>
        <p:spPr/>
        <p:txBody>
          <a:bodyPr>
            <a:normAutofit lnSpcReduction="10000"/>
          </a:bodyPr>
          <a:lstStyle/>
          <a:p>
            <a:pPr algn="just">
              <a:lnSpc>
                <a:spcPct val="110000"/>
              </a:lnSpc>
            </a:pPr>
            <a:r>
              <a:rPr lang="en-US" dirty="0">
                <a:latin typeface="Times New Roman" panose="02020603050405020304" pitchFamily="18" charset="0"/>
                <a:cs typeface="Times New Roman" panose="02020603050405020304" pitchFamily="18" charset="0"/>
              </a:rPr>
              <a:t>Learning Agent is an intelligent agent that learns from experience and feedback and improves its performance over time.</a:t>
            </a:r>
          </a:p>
          <a:p>
            <a:pPr algn="just">
              <a:lnSpc>
                <a:spcPct val="110000"/>
              </a:lnSpc>
            </a:pPr>
            <a:r>
              <a:rPr lang="en-US" dirty="0">
                <a:latin typeface="Times New Roman" panose="02020603050405020304" pitchFamily="18" charset="0"/>
                <a:cs typeface="Times New Roman" panose="02020603050405020304" pitchFamily="18" charset="0"/>
              </a:rPr>
              <a:t>A learning agent has four main components: </a:t>
            </a:r>
          </a:p>
          <a:p>
            <a:pPr algn="just">
              <a:lnSpc>
                <a:spcPct val="110000"/>
              </a:lnSpc>
            </a:pPr>
            <a:r>
              <a:rPr lang="en-US" b="1" dirty="0">
                <a:latin typeface="Times New Roman" panose="02020603050405020304" pitchFamily="18" charset="0"/>
                <a:cs typeface="Times New Roman" panose="02020603050405020304" pitchFamily="18" charset="0"/>
              </a:rPr>
              <a:t>Performance Element </a:t>
            </a:r>
            <a:r>
              <a:rPr lang="en-US" dirty="0">
                <a:latin typeface="Times New Roman" panose="02020603050405020304" pitchFamily="18" charset="0"/>
                <a:cs typeface="Times New Roman" panose="02020603050405020304" pitchFamily="18" charset="0"/>
              </a:rPr>
              <a:t>– selects actions. </a:t>
            </a:r>
          </a:p>
          <a:p>
            <a:pPr algn="just">
              <a:lnSpc>
                <a:spcPct val="110000"/>
              </a:lnSpc>
            </a:pPr>
            <a:r>
              <a:rPr lang="en-US" b="1" dirty="0">
                <a:latin typeface="Times New Roman" panose="02020603050405020304" pitchFamily="18" charset="0"/>
                <a:cs typeface="Times New Roman" panose="02020603050405020304" pitchFamily="18" charset="0"/>
              </a:rPr>
              <a:t>Learning Element </a:t>
            </a:r>
            <a:r>
              <a:rPr lang="en-US" dirty="0">
                <a:latin typeface="Times New Roman" panose="02020603050405020304" pitchFamily="18" charset="0"/>
                <a:cs typeface="Times New Roman" panose="02020603050405020304" pitchFamily="18" charset="0"/>
              </a:rPr>
              <a:t>– improves the agent’s performance. </a:t>
            </a:r>
          </a:p>
          <a:p>
            <a:pPr algn="just">
              <a:lnSpc>
                <a:spcPct val="110000"/>
              </a:lnSpc>
            </a:pPr>
            <a:r>
              <a:rPr lang="en-US" b="1" dirty="0">
                <a:latin typeface="Times New Roman" panose="02020603050405020304" pitchFamily="18" charset="0"/>
                <a:cs typeface="Times New Roman" panose="02020603050405020304" pitchFamily="18" charset="0"/>
              </a:rPr>
              <a:t>Critic</a:t>
            </a:r>
            <a:r>
              <a:rPr lang="en-US" dirty="0">
                <a:latin typeface="Times New Roman" panose="02020603050405020304" pitchFamily="18" charset="0"/>
                <a:cs typeface="Times New Roman" panose="02020603050405020304" pitchFamily="18" charset="0"/>
              </a:rPr>
              <a:t> – evaluates performance and provides feedback. </a:t>
            </a:r>
          </a:p>
          <a:p>
            <a:pPr algn="just">
              <a:lnSpc>
                <a:spcPct val="110000"/>
              </a:lnSpc>
            </a:pPr>
            <a:r>
              <a:rPr lang="en-US" b="1" dirty="0">
                <a:latin typeface="Times New Roman" panose="02020603050405020304" pitchFamily="18" charset="0"/>
                <a:cs typeface="Times New Roman" panose="02020603050405020304" pitchFamily="18" charset="0"/>
              </a:rPr>
              <a:t>Problem Generator </a:t>
            </a:r>
            <a:r>
              <a:rPr lang="en-US" dirty="0">
                <a:latin typeface="Times New Roman" panose="02020603050405020304" pitchFamily="18" charset="0"/>
                <a:cs typeface="Times New Roman" panose="02020603050405020304" pitchFamily="18" charset="0"/>
              </a:rPr>
              <a:t>– suggests new actions for exploration and learning.</a:t>
            </a:r>
          </a:p>
          <a:p>
            <a:endParaRPr lang="en-IN" dirty="0"/>
          </a:p>
        </p:txBody>
      </p:sp>
    </p:spTree>
    <p:extLst>
      <p:ext uri="{BB962C8B-B14F-4D97-AF65-F5344CB8AC3E}">
        <p14:creationId xmlns:p14="http://schemas.microsoft.com/office/powerpoint/2010/main" val="839263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CF11160-33B1-A634-BD96-C7AB1BF87748}"/>
              </a:ext>
            </a:extLst>
          </p:cNvPr>
          <p:cNvPicPr>
            <a:picLocks noChangeAspect="1"/>
          </p:cNvPicPr>
          <p:nvPr/>
        </p:nvPicPr>
        <p:blipFill>
          <a:blip r:embed="rId2"/>
          <a:stretch>
            <a:fillRect/>
          </a:stretch>
        </p:blipFill>
        <p:spPr>
          <a:xfrm>
            <a:off x="1608881" y="439838"/>
            <a:ext cx="8819909" cy="5613721"/>
          </a:xfrm>
          <a:prstGeom prst="rect">
            <a:avLst/>
          </a:prstGeom>
        </p:spPr>
      </p:pic>
    </p:spTree>
    <p:extLst>
      <p:ext uri="{BB962C8B-B14F-4D97-AF65-F5344CB8AC3E}">
        <p14:creationId xmlns:p14="http://schemas.microsoft.com/office/powerpoint/2010/main" val="4235620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36483-9955-181F-E005-A46ACAACE3A6}"/>
              </a:ext>
            </a:extLst>
          </p:cNvPr>
          <p:cNvSpPr>
            <a:spLocks noGrp="1"/>
          </p:cNvSpPr>
          <p:nvPr>
            <p:ph type="title"/>
          </p:nvPr>
        </p:nvSpPr>
        <p:spPr/>
        <p:txBody>
          <a:bodyPr/>
          <a:lstStyle/>
          <a:p>
            <a:r>
              <a:rPr lang="en-IN" dirty="0"/>
              <a:t>Nature of Environment and Agents</a:t>
            </a:r>
          </a:p>
        </p:txBody>
      </p:sp>
      <p:sp>
        <p:nvSpPr>
          <p:cNvPr id="3" name="Content Placeholder 2">
            <a:extLst>
              <a:ext uri="{FF2B5EF4-FFF2-40B4-BE49-F238E27FC236}">
                <a16:creationId xmlns:a16="http://schemas.microsoft.com/office/drawing/2014/main" xmlns="" id="{9E2F2F41-20C4-CD4D-C1A6-3D10FF744B7E}"/>
              </a:ext>
            </a:extLst>
          </p:cNvPr>
          <p:cNvSpPr>
            <a:spLocks noGrp="1"/>
          </p:cNvSpPr>
          <p:nvPr>
            <p:ph idx="1"/>
          </p:nvPr>
        </p:nvSpPr>
        <p:spPr/>
        <p:txBody>
          <a:bodyPr/>
          <a:lstStyle/>
          <a:p>
            <a:pPr algn="just">
              <a:lnSpc>
                <a:spcPct val="100000"/>
              </a:lnSpc>
            </a:pPr>
            <a:r>
              <a:rPr lang="en-US" dirty="0"/>
              <a:t>The environment is the external world in which an AI agent operates and interacts. </a:t>
            </a:r>
          </a:p>
          <a:p>
            <a:pPr algn="just">
              <a:lnSpc>
                <a:spcPct val="100000"/>
              </a:lnSpc>
            </a:pPr>
            <a:r>
              <a:rPr lang="en-US" dirty="0"/>
              <a:t>An agent perceives information through sensors and performs actions using actuators. </a:t>
            </a:r>
          </a:p>
          <a:p>
            <a:pPr algn="just">
              <a:lnSpc>
                <a:spcPct val="100000"/>
              </a:lnSpc>
            </a:pPr>
            <a:r>
              <a:rPr lang="en-US" dirty="0"/>
              <a:t>The behavior of the environment depends on the available information and how the environment changes over time. </a:t>
            </a:r>
          </a:p>
          <a:p>
            <a:pPr algn="just">
              <a:lnSpc>
                <a:spcPct val="100000"/>
              </a:lnSpc>
            </a:pPr>
            <a:r>
              <a:rPr lang="en-US" dirty="0"/>
              <a:t>Environments can be classified based on observability, uncertainty, and decision-making structure.</a:t>
            </a:r>
          </a:p>
          <a:p>
            <a:endParaRPr lang="en-IN" dirty="0"/>
          </a:p>
        </p:txBody>
      </p:sp>
    </p:spTree>
    <p:extLst>
      <p:ext uri="{BB962C8B-B14F-4D97-AF65-F5344CB8AC3E}">
        <p14:creationId xmlns:p14="http://schemas.microsoft.com/office/powerpoint/2010/main" val="3908519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F38A65-6030-9FFB-6639-CEC0109C31EF}"/>
              </a:ext>
            </a:extLst>
          </p:cNvPr>
          <p:cNvSpPr>
            <a:spLocks noGrp="1"/>
          </p:cNvSpPr>
          <p:nvPr>
            <p:ph type="title"/>
          </p:nvPr>
        </p:nvSpPr>
        <p:spPr/>
        <p:txBody>
          <a:bodyPr/>
          <a:lstStyle/>
          <a:p>
            <a:r>
              <a:rPr lang="en-IN" dirty="0"/>
              <a:t>Types of Environment</a:t>
            </a:r>
          </a:p>
        </p:txBody>
      </p:sp>
      <p:sp>
        <p:nvSpPr>
          <p:cNvPr id="3" name="Content Placeholder 2">
            <a:extLst>
              <a:ext uri="{FF2B5EF4-FFF2-40B4-BE49-F238E27FC236}">
                <a16:creationId xmlns:a16="http://schemas.microsoft.com/office/drawing/2014/main" xmlns="" id="{886BBB09-B445-B393-6574-2DFE83336B3F}"/>
              </a:ext>
            </a:extLst>
          </p:cNvPr>
          <p:cNvSpPr>
            <a:spLocks noGrp="1"/>
          </p:cNvSpPr>
          <p:nvPr>
            <p:ph idx="1"/>
          </p:nvPr>
        </p:nvSpPr>
        <p:spPr/>
        <p:txBody>
          <a:bodyPr/>
          <a:lstStyle/>
          <a:p>
            <a:pPr algn="just">
              <a:lnSpc>
                <a:spcPct val="100000"/>
              </a:lnSpc>
            </a:pPr>
            <a:r>
              <a:rPr lang="en-IN" dirty="0"/>
              <a:t>Fully Observable vs Partially Observable </a:t>
            </a:r>
          </a:p>
          <a:p>
            <a:pPr algn="just">
              <a:lnSpc>
                <a:spcPct val="100000"/>
              </a:lnSpc>
            </a:pPr>
            <a:r>
              <a:rPr lang="en-IN" dirty="0"/>
              <a:t>Deterministic vs Stochastic </a:t>
            </a:r>
          </a:p>
          <a:p>
            <a:pPr algn="just">
              <a:lnSpc>
                <a:spcPct val="100000"/>
              </a:lnSpc>
            </a:pPr>
            <a:r>
              <a:rPr lang="en-IN" dirty="0"/>
              <a:t>Episodic vs Sequential </a:t>
            </a:r>
          </a:p>
          <a:p>
            <a:pPr algn="just">
              <a:lnSpc>
                <a:spcPct val="100000"/>
              </a:lnSpc>
            </a:pPr>
            <a:r>
              <a:rPr lang="en-IN" dirty="0"/>
              <a:t>Static vs Dynamic </a:t>
            </a:r>
          </a:p>
          <a:p>
            <a:pPr algn="just">
              <a:lnSpc>
                <a:spcPct val="100000"/>
              </a:lnSpc>
            </a:pPr>
            <a:r>
              <a:rPr lang="en-IN" dirty="0"/>
              <a:t>Discrete vs Continuous  </a:t>
            </a:r>
          </a:p>
          <a:p>
            <a:pPr algn="just">
              <a:lnSpc>
                <a:spcPct val="100000"/>
              </a:lnSpc>
            </a:pPr>
            <a:r>
              <a:rPr lang="en-IN" dirty="0"/>
              <a:t>Single-Agent vs Multi-Agent</a:t>
            </a:r>
          </a:p>
        </p:txBody>
      </p:sp>
    </p:spTree>
    <p:extLst>
      <p:ext uri="{BB962C8B-B14F-4D97-AF65-F5344CB8AC3E}">
        <p14:creationId xmlns:p14="http://schemas.microsoft.com/office/powerpoint/2010/main" val="973928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2C5FF2-360F-BA26-AD20-C48D96B26D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C6718B9-6758-F2AB-DDF1-0113DCD4C320}"/>
              </a:ext>
            </a:extLst>
          </p:cNvPr>
          <p:cNvSpPr>
            <a:spLocks noGrp="1"/>
          </p:cNvSpPr>
          <p:nvPr>
            <p:ph idx="1"/>
          </p:nvPr>
        </p:nvSpPr>
        <p:spPr/>
        <p:txBody>
          <a:bodyPr/>
          <a:lstStyle/>
          <a:p>
            <a:pPr marL="0" indent="0">
              <a:lnSpc>
                <a:spcPct val="100000"/>
              </a:lnSpc>
              <a:buNone/>
            </a:pPr>
            <a:r>
              <a:rPr lang="en-US" b="1" dirty="0">
                <a:latin typeface="Times New Roman" panose="02020603050405020304" pitchFamily="18" charset="0"/>
                <a:cs typeface="Times New Roman" panose="02020603050405020304" pitchFamily="18" charset="0"/>
              </a:rPr>
              <a:t>1. Fully Observable vs Partially Observable</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fully observable when the agent can access all the information needed to make decisions, whereas it is partially observable when the agent has limited or incomplete information about the environment.</a:t>
            </a:r>
          </a:p>
          <a:p>
            <a:pPr marL="0" indent="0">
              <a:buNone/>
            </a:pPr>
            <a:r>
              <a:rPr lang="en-US" b="1" dirty="0">
                <a:latin typeface="Times New Roman" panose="02020603050405020304" pitchFamily="18" charset="0"/>
                <a:cs typeface="Times New Roman" panose="02020603050405020304" pitchFamily="18" charset="0"/>
              </a:rPr>
              <a:t>2. Deterministic vs Stochastic</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deterministic when the same action always produces the same result, whereas it is stochastic when the result may vary due to uncertainty or randomness.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4249407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EE39B4-D916-EDD9-B7A9-3A008E74A4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6403315-C4AC-1747-78AE-4A871A985AE0}"/>
              </a:ext>
            </a:extLst>
          </p:cNvPr>
          <p:cNvSpPr>
            <a:spLocks noGrp="1"/>
          </p:cNvSpPr>
          <p:nvPr>
            <p:ph idx="1"/>
          </p:nvPr>
        </p:nvSpPr>
        <p:spPr/>
        <p:txBody>
          <a:bodyPr/>
          <a:lstStyle/>
          <a:p>
            <a:pPr marL="0" indent="0">
              <a:lnSpc>
                <a:spcPct val="100000"/>
              </a:lnSpc>
              <a:buNone/>
            </a:pPr>
            <a:r>
              <a:rPr lang="en-US" b="1" dirty="0">
                <a:latin typeface="Times New Roman" panose="02020603050405020304" pitchFamily="18" charset="0"/>
                <a:cs typeface="Times New Roman" panose="02020603050405020304" pitchFamily="18" charset="0"/>
              </a:rPr>
              <a:t>3. Episodic vs Sequential</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episodic when each action is independent of previous actions, whereas it is sequential when current actions affect future decisions and outcomes.</a:t>
            </a:r>
          </a:p>
          <a:p>
            <a:pPr marL="0" indent="0">
              <a:lnSpc>
                <a:spcPct val="100000"/>
              </a:lnSpc>
              <a:buNone/>
            </a:pPr>
            <a:r>
              <a:rPr lang="en-US" b="1" dirty="0">
                <a:latin typeface="Times New Roman" panose="02020603050405020304" pitchFamily="18" charset="0"/>
                <a:cs typeface="Times New Roman" panose="02020603050405020304" pitchFamily="18" charset="0"/>
              </a:rPr>
              <a:t>4. Static vs Dynamic</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static when it does not change while the agent is making decisions, whereas it is dynamic when it can change during decision-making. </a:t>
            </a:r>
          </a:p>
          <a:p>
            <a:endParaRPr lang="en-IN" dirty="0"/>
          </a:p>
        </p:txBody>
      </p:sp>
    </p:spTree>
    <p:extLst>
      <p:ext uri="{BB962C8B-B14F-4D97-AF65-F5344CB8AC3E}">
        <p14:creationId xmlns:p14="http://schemas.microsoft.com/office/powerpoint/2010/main" val="3960815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091CB5-8B48-5CFF-764E-C6B29BCA7E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B74CF3D-2008-D80A-EDDE-16829F5672FF}"/>
              </a:ext>
            </a:extLst>
          </p:cNvPr>
          <p:cNvSpPr>
            <a:spLocks noGrp="1"/>
          </p:cNvSpPr>
          <p:nvPr>
            <p:ph idx="1"/>
          </p:nvPr>
        </p:nvSpPr>
        <p:spPr/>
        <p:txBody>
          <a:bodyPr/>
          <a:lstStyle/>
          <a:p>
            <a:pPr marL="0" indent="0">
              <a:lnSpc>
                <a:spcPct val="100000"/>
              </a:lnSpc>
              <a:buNone/>
            </a:pPr>
            <a:r>
              <a:rPr lang="en-US" b="1" dirty="0">
                <a:latin typeface="Times New Roman" panose="02020603050405020304" pitchFamily="18" charset="0"/>
                <a:cs typeface="Times New Roman" panose="02020603050405020304" pitchFamily="18" charset="0"/>
              </a:rPr>
              <a:t>5. Discrete vs Continuous</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discrete when it has a finite number of distinct states and actions, whereas it is continuous when states, actions or time can change continuously.</a:t>
            </a:r>
          </a:p>
          <a:p>
            <a:pPr marL="0" indent="0">
              <a:lnSpc>
                <a:spcPct val="100000"/>
              </a:lnSpc>
              <a:buNone/>
            </a:pPr>
            <a:r>
              <a:rPr lang="en-US" b="1" dirty="0">
                <a:latin typeface="Times New Roman" panose="02020603050405020304" pitchFamily="18" charset="0"/>
                <a:cs typeface="Times New Roman" panose="02020603050405020304" pitchFamily="18" charset="0"/>
              </a:rPr>
              <a:t>6. Single-Agent vs Multi-Agent</a:t>
            </a:r>
          </a:p>
          <a:p>
            <a:pPr marL="0" indent="0" algn="just">
              <a:lnSpc>
                <a:spcPct val="100000"/>
              </a:lnSpc>
              <a:buNone/>
            </a:pPr>
            <a:r>
              <a:rPr lang="en-US" dirty="0">
                <a:latin typeface="Times New Roman" panose="02020603050405020304" pitchFamily="18" charset="0"/>
                <a:cs typeface="Times New Roman" panose="02020603050405020304" pitchFamily="18" charset="0"/>
              </a:rPr>
              <a:t>An environment is single-agent when only one agent operates in it, whereas it is multi-agent when multiple agents interact, cooperate or compete with each other.</a:t>
            </a:r>
          </a:p>
          <a:p>
            <a:endParaRPr lang="en-IN" dirty="0"/>
          </a:p>
        </p:txBody>
      </p:sp>
    </p:spTree>
    <p:extLst>
      <p:ext uri="{BB962C8B-B14F-4D97-AF65-F5344CB8AC3E}">
        <p14:creationId xmlns:p14="http://schemas.microsoft.com/office/powerpoint/2010/main" val="4078116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6352B5-2D0E-CE64-F9FD-776DDBF19A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C0456B3-4323-D620-8AC2-4435183754B5}"/>
              </a:ext>
            </a:extLst>
          </p:cNvPr>
          <p:cNvSpPr>
            <a:spLocks noGrp="1"/>
          </p:cNvSpPr>
          <p:nvPr>
            <p:ph idx="1"/>
          </p:nvPr>
        </p:nvSpPr>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Examples</a:t>
            </a:r>
          </a:p>
          <a:p>
            <a:pPr algn="just">
              <a:lnSpc>
                <a:spcPct val="100000"/>
              </a:lnSpc>
            </a:pPr>
            <a:r>
              <a:rPr lang="en-US" b="1" dirty="0">
                <a:latin typeface="Times New Roman" panose="02020603050405020304" pitchFamily="18" charset="0"/>
                <a:cs typeface="Times New Roman" panose="02020603050405020304" pitchFamily="18" charset="0"/>
              </a:rPr>
              <a:t>Chess: </a:t>
            </a:r>
            <a:r>
              <a:rPr lang="en-US" dirty="0">
                <a:latin typeface="Times New Roman" panose="02020603050405020304" pitchFamily="18" charset="0"/>
                <a:cs typeface="Times New Roman" panose="02020603050405020304" pitchFamily="18" charset="0"/>
              </a:rPr>
              <a:t>Fully Observable, Deterministic, Sequential, Static, Multi-Agent. </a:t>
            </a:r>
          </a:p>
          <a:p>
            <a:pPr algn="just">
              <a:lnSpc>
                <a:spcPct val="100000"/>
              </a:lnSpc>
            </a:pPr>
            <a:r>
              <a:rPr lang="en-US" b="1" dirty="0">
                <a:latin typeface="Times New Roman" panose="02020603050405020304" pitchFamily="18" charset="0"/>
                <a:cs typeface="Times New Roman" panose="02020603050405020304" pitchFamily="18" charset="0"/>
              </a:rPr>
              <a:t>Self-Driving Car: </a:t>
            </a:r>
            <a:r>
              <a:rPr lang="en-US" dirty="0">
                <a:latin typeface="Times New Roman" panose="02020603050405020304" pitchFamily="18" charset="0"/>
                <a:cs typeface="Times New Roman" panose="02020603050405020304" pitchFamily="18" charset="0"/>
              </a:rPr>
              <a:t>Partially Observable, Stochastic, Sequential, Dynamic, Multi-Agent.</a:t>
            </a:r>
          </a:p>
          <a:p>
            <a:endParaRPr lang="en-IN" dirty="0"/>
          </a:p>
        </p:txBody>
      </p:sp>
    </p:spTree>
    <p:extLst>
      <p:ext uri="{BB962C8B-B14F-4D97-AF65-F5344CB8AC3E}">
        <p14:creationId xmlns:p14="http://schemas.microsoft.com/office/powerpoint/2010/main" val="3017687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4BA7F82-268C-1EBE-6C53-175A1C20C857}"/>
              </a:ext>
            </a:extLst>
          </p:cNvPr>
          <p:cNvPicPr>
            <a:picLocks noChangeAspect="1"/>
          </p:cNvPicPr>
          <p:nvPr/>
        </p:nvPicPr>
        <p:blipFill>
          <a:blip r:embed="rId2"/>
          <a:stretch>
            <a:fillRect/>
          </a:stretch>
        </p:blipFill>
        <p:spPr>
          <a:xfrm>
            <a:off x="1887794" y="383458"/>
            <a:ext cx="9379974" cy="5614219"/>
          </a:xfrm>
          <a:prstGeom prst="rect">
            <a:avLst/>
          </a:prstGeom>
        </p:spPr>
      </p:pic>
    </p:spTree>
    <p:extLst>
      <p:ext uri="{BB962C8B-B14F-4D97-AF65-F5344CB8AC3E}">
        <p14:creationId xmlns:p14="http://schemas.microsoft.com/office/powerpoint/2010/main" val="1098830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A5339E-A2C6-86E4-A333-4C6FB99ED598}"/>
              </a:ext>
            </a:extLst>
          </p:cNvPr>
          <p:cNvSpPr>
            <a:spLocks noGrp="1"/>
          </p:cNvSpPr>
          <p:nvPr>
            <p:ph type="title"/>
          </p:nvPr>
        </p:nvSpPr>
        <p:spPr/>
        <p:txBody>
          <a:bodyPr/>
          <a:lstStyle/>
          <a:p>
            <a:r>
              <a:rPr lang="en-US" dirty="0"/>
              <a:t>Breadth-first search</a:t>
            </a:r>
            <a:endParaRPr lang="en-IN" dirty="0"/>
          </a:p>
        </p:txBody>
      </p:sp>
      <p:sp>
        <p:nvSpPr>
          <p:cNvPr id="3" name="Content Placeholder 2">
            <a:extLst>
              <a:ext uri="{FF2B5EF4-FFF2-40B4-BE49-F238E27FC236}">
                <a16:creationId xmlns:a16="http://schemas.microsoft.com/office/drawing/2014/main" xmlns="" id="{69494311-0C81-B636-C3AF-2519A0865B68}"/>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Breadth-first search is the most common search strategy for traversing a tree or graph. This algorithm searches breadthwise in a tree or graph so it is called breadth-first search.</a:t>
            </a:r>
          </a:p>
          <a:p>
            <a:pPr algn="just">
              <a:lnSpc>
                <a:spcPct val="100000"/>
              </a:lnSpc>
            </a:pPr>
            <a:r>
              <a:rPr lang="en-US" dirty="0">
                <a:latin typeface="Times New Roman" panose="02020603050405020304" pitchFamily="18" charset="0"/>
                <a:cs typeface="Times New Roman" panose="02020603050405020304" pitchFamily="18" charset="0"/>
              </a:rPr>
              <a:t>BFS algorithm starts searching from the root node of the tree and expands all successor node at the current level before moving to nodes of next level.</a:t>
            </a:r>
          </a:p>
          <a:p>
            <a:pPr algn="just">
              <a:lnSpc>
                <a:spcPct val="100000"/>
              </a:lnSpc>
            </a:pPr>
            <a:r>
              <a:rPr lang="en-US" dirty="0">
                <a:latin typeface="Times New Roman" panose="02020603050405020304" pitchFamily="18" charset="0"/>
                <a:cs typeface="Times New Roman" panose="02020603050405020304" pitchFamily="18" charset="0"/>
              </a:rPr>
              <a:t>The breadth-first search algorithm is an example of a general-graph search algorithm.</a:t>
            </a:r>
          </a:p>
          <a:p>
            <a:pPr algn="just">
              <a:lnSpc>
                <a:spcPct val="100000"/>
              </a:lnSpc>
            </a:pPr>
            <a:r>
              <a:rPr lang="en-US" dirty="0">
                <a:latin typeface="Times New Roman" panose="02020603050405020304" pitchFamily="18" charset="0"/>
                <a:cs typeface="Times New Roman" panose="02020603050405020304" pitchFamily="18" charset="0"/>
              </a:rPr>
              <a:t>Breadth-first search implemented using FIFO queue data structure.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544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515199B-1782-3362-84DC-9C88920926D2}"/>
              </a:ext>
            </a:extLst>
          </p:cNvPr>
          <p:cNvPicPr>
            <a:picLocks noChangeAspect="1"/>
          </p:cNvPicPr>
          <p:nvPr/>
        </p:nvPicPr>
        <p:blipFill>
          <a:blip r:embed="rId2"/>
          <a:stretch>
            <a:fillRect/>
          </a:stretch>
        </p:blipFill>
        <p:spPr>
          <a:xfrm>
            <a:off x="2533341" y="586493"/>
            <a:ext cx="7125317" cy="5685013"/>
          </a:xfrm>
          <a:prstGeom prst="rect">
            <a:avLst/>
          </a:prstGeom>
        </p:spPr>
      </p:pic>
    </p:spTree>
    <p:extLst>
      <p:ext uri="{BB962C8B-B14F-4D97-AF65-F5344CB8AC3E}">
        <p14:creationId xmlns:p14="http://schemas.microsoft.com/office/powerpoint/2010/main" val="4238174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73CCE1-C0D7-C9EF-FF71-1EFDA41659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4453567-F7D7-19FE-FA12-9AC82F5C4106}"/>
              </a:ext>
            </a:extLst>
          </p:cNvPr>
          <p:cNvSpPr>
            <a:spLocks noGrp="1"/>
          </p:cNvSpPr>
          <p:nvPr>
            <p:ph idx="1"/>
          </p:nvPr>
        </p:nvSpPr>
        <p:spPr/>
        <p:txBody>
          <a:bodyPr/>
          <a:lstStyle/>
          <a:p>
            <a:pPr marL="0" indent="0">
              <a:buNone/>
            </a:pPr>
            <a:r>
              <a:rPr lang="en-US" b="1" dirty="0"/>
              <a:t>Advantages</a:t>
            </a:r>
          </a:p>
          <a:p>
            <a:pPr algn="just">
              <a:lnSpc>
                <a:spcPct val="100000"/>
              </a:lnSpc>
            </a:pPr>
            <a:r>
              <a:rPr lang="en-US" dirty="0">
                <a:latin typeface="Times New Roman" panose="02020603050405020304" pitchFamily="18" charset="0"/>
                <a:cs typeface="Times New Roman" panose="02020603050405020304" pitchFamily="18" charset="0"/>
              </a:rPr>
              <a:t>Explores nodes level by level without missing any.</a:t>
            </a:r>
          </a:p>
          <a:p>
            <a:pPr algn="just">
              <a:lnSpc>
                <a:spcPct val="100000"/>
              </a:lnSpc>
            </a:pPr>
            <a:r>
              <a:rPr lang="en-US" dirty="0">
                <a:latin typeface="Times New Roman" panose="02020603050405020304" pitchFamily="18" charset="0"/>
                <a:cs typeface="Times New Roman" panose="02020603050405020304" pitchFamily="18" charset="0"/>
              </a:rPr>
              <a:t>Easy to understand and implement with a queue.</a:t>
            </a:r>
          </a:p>
          <a:p>
            <a:pPr algn="just">
              <a:lnSpc>
                <a:spcPct val="100000"/>
              </a:lnSpc>
            </a:pPr>
            <a:r>
              <a:rPr lang="en-US" dirty="0">
                <a:latin typeface="Times New Roman" panose="02020603050405020304" pitchFamily="18" charset="0"/>
                <a:cs typeface="Times New Roman" panose="02020603050405020304" pitchFamily="18" charset="0"/>
              </a:rPr>
              <a:t>Always finds the shortest path in unweighted graphs.</a:t>
            </a:r>
          </a:p>
          <a:p>
            <a:pPr marL="0" indent="0">
              <a:buNone/>
            </a:pPr>
            <a:r>
              <a:rPr lang="en-US" b="1" dirty="0"/>
              <a:t>Disadvantage</a:t>
            </a:r>
          </a:p>
          <a:p>
            <a:pPr algn="just">
              <a:lnSpc>
                <a:spcPct val="100000"/>
              </a:lnSpc>
            </a:pPr>
            <a:r>
              <a:rPr lang="en-US" dirty="0">
                <a:latin typeface="Times New Roman" panose="02020603050405020304" pitchFamily="18" charset="0"/>
                <a:cs typeface="Times New Roman" panose="02020603050405020304" pitchFamily="18" charset="0"/>
              </a:rPr>
              <a:t>It requires lots of memory since each level of the tree must be saved into memory to expand the next level.</a:t>
            </a:r>
          </a:p>
          <a:p>
            <a:pPr algn="just">
              <a:lnSpc>
                <a:spcPct val="100000"/>
              </a:lnSpc>
            </a:pPr>
            <a:r>
              <a:rPr lang="en-US" dirty="0">
                <a:latin typeface="Times New Roman" panose="02020603050405020304" pitchFamily="18" charset="0"/>
                <a:cs typeface="Times New Roman" panose="02020603050405020304" pitchFamily="18" charset="0"/>
              </a:rPr>
              <a:t>BFS needs lots of time if the solution is far away from the root node.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670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0886B8-9D67-D103-8CAC-21E8091E8734}"/>
              </a:ext>
            </a:extLst>
          </p:cNvPr>
          <p:cNvSpPr>
            <a:spLocks noGrp="1"/>
          </p:cNvSpPr>
          <p:nvPr>
            <p:ph type="title"/>
          </p:nvPr>
        </p:nvSpPr>
        <p:spPr/>
        <p:txBody>
          <a:bodyPr/>
          <a:lstStyle/>
          <a:p>
            <a:r>
              <a:rPr lang="en-US" dirty="0"/>
              <a:t>Depth-first search</a:t>
            </a:r>
            <a:endParaRPr lang="en-IN" dirty="0"/>
          </a:p>
        </p:txBody>
      </p:sp>
      <p:sp>
        <p:nvSpPr>
          <p:cNvPr id="7" name="Content Placeholder 6">
            <a:extLst>
              <a:ext uri="{FF2B5EF4-FFF2-40B4-BE49-F238E27FC236}">
                <a16:creationId xmlns:a16="http://schemas.microsoft.com/office/drawing/2014/main" xmlns="" id="{1FDCE0AD-3ED5-2EDB-AD6C-6CD76167E3E2}"/>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Depth-first search is a recursive algorithm for traversing a tree or graph data structure.</a:t>
            </a:r>
          </a:p>
          <a:p>
            <a:pPr algn="just">
              <a:lnSpc>
                <a:spcPct val="100000"/>
              </a:lnSpc>
            </a:pPr>
            <a:r>
              <a:rPr lang="en-US" dirty="0">
                <a:latin typeface="Times New Roman" panose="02020603050405020304" pitchFamily="18" charset="0"/>
                <a:cs typeface="Times New Roman" panose="02020603050405020304" pitchFamily="18" charset="0"/>
              </a:rPr>
              <a:t>It is called depth-first search because it starts from root node and follows each path to its greatest depth node before moving to the next path.</a:t>
            </a:r>
          </a:p>
          <a:p>
            <a:pPr algn="just">
              <a:lnSpc>
                <a:spcPct val="100000"/>
              </a:lnSpc>
            </a:pPr>
            <a:r>
              <a:rPr lang="en-US" dirty="0">
                <a:latin typeface="Times New Roman" panose="02020603050405020304" pitchFamily="18" charset="0"/>
                <a:cs typeface="Times New Roman" panose="02020603050405020304" pitchFamily="18" charset="0"/>
              </a:rPr>
              <a:t>DFS uses a stack data structure for its implementation.</a:t>
            </a:r>
          </a:p>
          <a:p>
            <a:pPr algn="just">
              <a:lnSpc>
                <a:spcPct val="100000"/>
              </a:lnSpc>
            </a:pPr>
            <a:r>
              <a:rPr lang="en-US" dirty="0">
                <a:latin typeface="Times New Roman" panose="02020603050405020304" pitchFamily="18" charset="0"/>
                <a:cs typeface="Times New Roman" panose="02020603050405020304" pitchFamily="18" charset="0"/>
              </a:rPr>
              <a:t>The process of DFS algorithm is similar to the BFS algorithm.</a:t>
            </a:r>
          </a:p>
          <a:p>
            <a:pPr algn="just">
              <a:lnSpc>
                <a:spcPct val="100000"/>
              </a:lnSpc>
            </a:pPr>
            <a:r>
              <a:rPr lang="en-US" dirty="0">
                <a:latin typeface="Times New Roman" panose="02020603050405020304" pitchFamily="18" charset="0"/>
                <a:cs typeface="Times New Roman" panose="02020603050405020304" pitchFamily="18" charset="0"/>
              </a:rPr>
              <a:t>Backtracks when no further successors are available.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582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BED8DA5-AD4E-E42B-C892-06644FBE2D14}"/>
              </a:ext>
            </a:extLst>
          </p:cNvPr>
          <p:cNvPicPr>
            <a:picLocks noChangeAspect="1"/>
          </p:cNvPicPr>
          <p:nvPr/>
        </p:nvPicPr>
        <p:blipFill>
          <a:blip r:embed="rId2"/>
          <a:stretch>
            <a:fillRect/>
          </a:stretch>
        </p:blipFill>
        <p:spPr>
          <a:xfrm>
            <a:off x="2735289" y="982768"/>
            <a:ext cx="6721422" cy="4892464"/>
          </a:xfrm>
          <a:prstGeom prst="rect">
            <a:avLst/>
          </a:prstGeom>
        </p:spPr>
      </p:pic>
    </p:spTree>
    <p:extLst>
      <p:ext uri="{BB962C8B-B14F-4D97-AF65-F5344CB8AC3E}">
        <p14:creationId xmlns:p14="http://schemas.microsoft.com/office/powerpoint/2010/main" val="2939342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CDCC38-2392-0C0B-D56F-1097F11E2D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B16A949-0068-FE9B-FF91-BE8BA69ACEBC}"/>
              </a:ext>
            </a:extLst>
          </p:cNvPr>
          <p:cNvSpPr>
            <a:spLocks noGrp="1"/>
          </p:cNvSpPr>
          <p:nvPr>
            <p:ph idx="1"/>
          </p:nvPr>
        </p:nvSpPr>
        <p:spPr/>
        <p:txBody>
          <a:bodyPr/>
          <a:lstStyle/>
          <a:p>
            <a:pPr marL="0" indent="0">
              <a:buNone/>
            </a:pPr>
            <a:r>
              <a:rPr lang="en-US" b="1" dirty="0"/>
              <a:t>Advantage</a:t>
            </a:r>
          </a:p>
          <a:p>
            <a:pPr algn="just">
              <a:lnSpc>
                <a:spcPct val="100000"/>
              </a:lnSpc>
            </a:pPr>
            <a:r>
              <a:rPr lang="en-US" dirty="0">
                <a:latin typeface="Times New Roman" panose="02020603050405020304" pitchFamily="18" charset="0"/>
                <a:cs typeface="Times New Roman" panose="02020603050405020304" pitchFamily="18" charset="0"/>
              </a:rPr>
              <a:t>Requires very less memory.</a:t>
            </a:r>
          </a:p>
          <a:p>
            <a:pPr algn="just">
              <a:lnSpc>
                <a:spcPct val="100000"/>
              </a:lnSpc>
            </a:pPr>
            <a:r>
              <a:rPr lang="en-US" dirty="0">
                <a:latin typeface="Times New Roman" panose="02020603050405020304" pitchFamily="18" charset="0"/>
                <a:cs typeface="Times New Roman" panose="02020603050405020304" pitchFamily="18" charset="0"/>
              </a:rPr>
              <a:t>Easy to implement using recursion or stack.</a:t>
            </a:r>
          </a:p>
          <a:p>
            <a:pPr algn="just">
              <a:lnSpc>
                <a:spcPct val="100000"/>
              </a:lnSpc>
            </a:pPr>
            <a:r>
              <a:rPr lang="en-US" dirty="0">
                <a:latin typeface="Times New Roman" panose="02020603050405020304" pitchFamily="18" charset="0"/>
                <a:cs typeface="Times New Roman" panose="02020603050405020304" pitchFamily="18" charset="0"/>
              </a:rPr>
              <a:t>Suitable for deep search problems.</a:t>
            </a:r>
          </a:p>
          <a:p>
            <a:pPr marL="0" indent="0">
              <a:buNone/>
            </a:pPr>
            <a:r>
              <a:rPr lang="en-US" b="1" dirty="0"/>
              <a:t>Disadvantage</a:t>
            </a:r>
          </a:p>
          <a:p>
            <a:pPr algn="just">
              <a:lnSpc>
                <a:spcPct val="100000"/>
              </a:lnSpc>
            </a:pPr>
            <a:r>
              <a:rPr lang="en-US" dirty="0">
                <a:latin typeface="Times New Roman" panose="02020603050405020304" pitchFamily="18" charset="0"/>
                <a:cs typeface="Times New Roman" panose="02020603050405020304" pitchFamily="18" charset="0"/>
              </a:rPr>
              <a:t>Not guaranteed to find the optimal solution.</a:t>
            </a:r>
          </a:p>
          <a:p>
            <a:pPr algn="just">
              <a:lnSpc>
                <a:spcPct val="100000"/>
              </a:lnSpc>
            </a:pPr>
            <a:r>
              <a:rPr lang="en-US" dirty="0">
                <a:latin typeface="Times New Roman" panose="02020603050405020304" pitchFamily="18" charset="0"/>
                <a:cs typeface="Times New Roman" panose="02020603050405020304" pitchFamily="18" charset="0"/>
              </a:rPr>
              <a:t>Can get trapped in an infinite path.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7829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3971FA-42BA-310B-D0BA-F477A2C36CC8}"/>
              </a:ext>
            </a:extLst>
          </p:cNvPr>
          <p:cNvSpPr>
            <a:spLocks noGrp="1"/>
          </p:cNvSpPr>
          <p:nvPr>
            <p:ph type="title"/>
          </p:nvPr>
        </p:nvSpPr>
        <p:spPr/>
        <p:txBody>
          <a:bodyPr/>
          <a:lstStyle/>
          <a:p>
            <a:r>
              <a:rPr lang="en-US" dirty="0"/>
              <a:t>Greedy Best-first search</a:t>
            </a:r>
            <a:endParaRPr lang="en-IN" dirty="0"/>
          </a:p>
        </p:txBody>
      </p:sp>
      <p:sp>
        <p:nvSpPr>
          <p:cNvPr id="3" name="Content Placeholder 2">
            <a:extLst>
              <a:ext uri="{FF2B5EF4-FFF2-40B4-BE49-F238E27FC236}">
                <a16:creationId xmlns:a16="http://schemas.microsoft.com/office/drawing/2014/main" xmlns="" id="{A0F28C7F-8FF6-1635-4AED-78F1F0E6E377}"/>
              </a:ext>
            </a:extLst>
          </p:cNvPr>
          <p:cNvSpPr>
            <a:spLocks noGrp="1"/>
          </p:cNvSpPr>
          <p:nvPr>
            <p:ph idx="1"/>
          </p:nvPr>
        </p:nvSpPr>
        <p:spPr/>
        <p:txBody>
          <a:bodyPr/>
          <a:lstStyle/>
          <a:p>
            <a:pPr>
              <a:lnSpc>
                <a:spcPct val="100000"/>
              </a:lnSpc>
            </a:pPr>
            <a:r>
              <a:rPr lang="en-US" dirty="0">
                <a:latin typeface="Times New Roman" panose="02020603050405020304" pitchFamily="18" charset="0"/>
                <a:cs typeface="Times New Roman" panose="02020603050405020304" pitchFamily="18" charset="0"/>
              </a:rPr>
              <a:t>Greedy best-first search is an informed(heuristic) search algorithm</a:t>
            </a:r>
          </a:p>
          <a:p>
            <a:pPr>
              <a:lnSpc>
                <a:spcPct val="100000"/>
              </a:lnSpc>
            </a:pPr>
            <a:r>
              <a:rPr lang="en-US" dirty="0">
                <a:latin typeface="Times New Roman" panose="02020603050405020304" pitchFamily="18" charset="0"/>
                <a:cs typeface="Times New Roman" panose="02020603050405020304" pitchFamily="18" charset="0"/>
              </a:rPr>
              <a:t>It selects the node that appears closest to the goal.</a:t>
            </a:r>
          </a:p>
          <a:p>
            <a:pPr>
              <a:lnSpc>
                <a:spcPct val="100000"/>
              </a:lnSpc>
            </a:pPr>
            <a:r>
              <a:rPr lang="en-US" dirty="0">
                <a:latin typeface="Times New Roman" panose="02020603050405020304" pitchFamily="18" charset="0"/>
                <a:cs typeface="Times New Roman" panose="02020603050405020304" pitchFamily="18" charset="0"/>
              </a:rPr>
              <a:t>It uses the evaluation function f(n)= h(n)</a:t>
            </a:r>
          </a:p>
          <a:p>
            <a:pPr>
              <a:lnSpc>
                <a:spcPct val="100000"/>
              </a:lnSpc>
            </a:pPr>
            <a:r>
              <a:rPr lang="en-US" dirty="0">
                <a:latin typeface="Times New Roman" panose="02020603050405020304" pitchFamily="18" charset="0"/>
                <a:cs typeface="Times New Roman" panose="02020603050405020304" pitchFamily="18" charset="0"/>
              </a:rPr>
              <a:t>The node with the lowest heuristic value is expanded first.</a:t>
            </a:r>
          </a:p>
          <a:p>
            <a:pPr>
              <a:lnSpc>
                <a:spcPct val="100000"/>
              </a:lnSpc>
            </a:pPr>
            <a:r>
              <a:rPr lang="en-US" dirty="0">
                <a:latin typeface="Times New Roman" panose="02020603050405020304" pitchFamily="18" charset="0"/>
                <a:cs typeface="Times New Roman" panose="02020603050405020304" pitchFamily="18" charset="0"/>
              </a:rPr>
              <a:t>It can find a solution quickly but does not guarantee the optimal path.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4409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0D900ADB-894F-284E-C03D-D50AC2FAEBAC}"/>
              </a:ext>
            </a:extLst>
          </p:cNvPr>
          <p:cNvPicPr>
            <a:picLocks noChangeAspect="1"/>
          </p:cNvPicPr>
          <p:nvPr/>
        </p:nvPicPr>
        <p:blipFill>
          <a:blip r:embed="rId2"/>
          <a:stretch>
            <a:fillRect/>
          </a:stretch>
        </p:blipFill>
        <p:spPr>
          <a:xfrm>
            <a:off x="462987" y="694480"/>
            <a:ext cx="11285317" cy="5741043"/>
          </a:xfrm>
          <a:prstGeom prst="rect">
            <a:avLst/>
          </a:prstGeom>
        </p:spPr>
      </p:pic>
    </p:spTree>
    <p:extLst>
      <p:ext uri="{BB962C8B-B14F-4D97-AF65-F5344CB8AC3E}">
        <p14:creationId xmlns:p14="http://schemas.microsoft.com/office/powerpoint/2010/main" val="578247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BB163DFF-26E4-204A-BDC2-47041A5DF715}"/>
              </a:ext>
            </a:extLst>
          </p:cNvPr>
          <p:cNvPicPr>
            <a:picLocks noChangeAspect="1"/>
          </p:cNvPicPr>
          <p:nvPr/>
        </p:nvPicPr>
        <p:blipFill>
          <a:blip r:embed="rId2"/>
          <a:stretch>
            <a:fillRect/>
          </a:stretch>
        </p:blipFill>
        <p:spPr>
          <a:xfrm>
            <a:off x="1365813" y="173619"/>
            <a:ext cx="9005103" cy="6342927"/>
          </a:xfrm>
          <a:prstGeom prst="rect">
            <a:avLst/>
          </a:prstGeom>
        </p:spPr>
      </p:pic>
    </p:spTree>
    <p:extLst>
      <p:ext uri="{BB962C8B-B14F-4D97-AF65-F5344CB8AC3E}">
        <p14:creationId xmlns:p14="http://schemas.microsoft.com/office/powerpoint/2010/main" val="94834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64140D-08C8-1C28-8000-BE49F5660E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DDF046A5-B00C-FD05-6037-C37F0F3AB3FC}"/>
              </a:ext>
            </a:extLst>
          </p:cNvPr>
          <p:cNvSpPr>
            <a:spLocks noGrp="1"/>
          </p:cNvSpPr>
          <p:nvPr>
            <p:ph idx="1"/>
          </p:nvPr>
        </p:nvSpPr>
        <p:spPr/>
        <p:txBody>
          <a:bodyPr>
            <a:normAutofit fontScale="92500" lnSpcReduction="20000"/>
          </a:bodyPr>
          <a:lstStyle/>
          <a:p>
            <a:pPr marL="0" indent="0">
              <a:lnSpc>
                <a:spcPct val="110000"/>
              </a:lnSpc>
              <a:buNone/>
            </a:pPr>
            <a:r>
              <a:rPr lang="en-US" b="1" dirty="0">
                <a:latin typeface="Times New Roman" panose="02020603050405020304" pitchFamily="18" charset="0"/>
                <a:cs typeface="Times New Roman" panose="02020603050405020304" pitchFamily="18" charset="0"/>
              </a:rPr>
              <a:t>Advantage</a:t>
            </a:r>
          </a:p>
          <a:p>
            <a:pPr>
              <a:lnSpc>
                <a:spcPct val="110000"/>
              </a:lnSpc>
            </a:pPr>
            <a:r>
              <a:rPr lang="en-US" dirty="0">
                <a:latin typeface="Times New Roman" panose="02020603050405020304" pitchFamily="18" charset="0"/>
                <a:cs typeface="Times New Roman" panose="02020603050405020304" pitchFamily="18" charset="0"/>
              </a:rPr>
              <a:t>Uses heuristic knowledge to guide the search. </a:t>
            </a:r>
          </a:p>
          <a:p>
            <a:pPr>
              <a:lnSpc>
                <a:spcPct val="110000"/>
              </a:lnSpc>
            </a:pPr>
            <a:r>
              <a:rPr lang="en-US" dirty="0">
                <a:latin typeface="Times New Roman" panose="02020603050405020304" pitchFamily="18" charset="0"/>
                <a:cs typeface="Times New Roman" panose="02020603050405020304" pitchFamily="18" charset="0"/>
              </a:rPr>
              <a:t>Can reach the goal quickly when the heuristic is good. </a:t>
            </a:r>
          </a:p>
          <a:p>
            <a:pPr>
              <a:lnSpc>
                <a:spcPct val="110000"/>
              </a:lnSpc>
            </a:pPr>
            <a:r>
              <a:rPr lang="en-US" dirty="0">
                <a:latin typeface="Times New Roman" panose="02020603050405020304" pitchFamily="18" charset="0"/>
                <a:cs typeface="Times New Roman" panose="02020603050405020304" pitchFamily="18" charset="0"/>
              </a:rPr>
              <a:t>Often explores fewer nodes than uninformed search methods. </a:t>
            </a:r>
          </a:p>
          <a:p>
            <a:pPr marL="0" indent="0">
              <a:lnSpc>
                <a:spcPct val="110000"/>
              </a:lnSpc>
              <a:buNone/>
            </a:pPr>
            <a:r>
              <a:rPr lang="en-US" b="1" dirty="0">
                <a:latin typeface="Times New Roman" panose="02020603050405020304" pitchFamily="18" charset="0"/>
                <a:cs typeface="Times New Roman" panose="02020603050405020304" pitchFamily="18" charset="0"/>
              </a:rPr>
              <a:t>Disadvantage</a:t>
            </a:r>
          </a:p>
          <a:p>
            <a:pPr>
              <a:lnSpc>
                <a:spcPct val="110000"/>
              </a:lnSpc>
            </a:pPr>
            <a:r>
              <a:rPr lang="en-US" dirty="0">
                <a:latin typeface="Times New Roman" panose="02020603050405020304" pitchFamily="18" charset="0"/>
                <a:cs typeface="Times New Roman" panose="02020603050405020304" pitchFamily="18" charset="0"/>
              </a:rPr>
              <a:t>Does not guarantee the shortest/optimal path. </a:t>
            </a:r>
          </a:p>
          <a:p>
            <a:pPr>
              <a:lnSpc>
                <a:spcPct val="110000"/>
              </a:lnSpc>
            </a:pPr>
            <a:r>
              <a:rPr lang="en-US" dirty="0">
                <a:latin typeface="Times New Roman" panose="02020603050405020304" pitchFamily="18" charset="0"/>
                <a:cs typeface="Times New Roman" panose="02020603050405020304" pitchFamily="18" charset="0"/>
              </a:rPr>
              <a:t>Can make a wrong choice because it only considers the estimated distance to the goal. </a:t>
            </a:r>
          </a:p>
          <a:p>
            <a:pPr>
              <a:lnSpc>
                <a:spcPct val="110000"/>
              </a:lnSpc>
            </a:pPr>
            <a:r>
              <a:rPr lang="en-US" dirty="0">
                <a:latin typeface="Times New Roman" panose="02020603050405020304" pitchFamily="18" charset="0"/>
                <a:cs typeface="Times New Roman" panose="02020603050405020304" pitchFamily="18" charset="0"/>
              </a:rPr>
              <a:t>Can get stuck in an infinite path. </a:t>
            </a:r>
          </a:p>
          <a:p>
            <a:pPr marL="0" indent="0">
              <a:lnSpc>
                <a:spcPct val="110000"/>
              </a:lnSpc>
              <a:buNone/>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98207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0B87C2-EC6A-832B-D46A-FDB10E842772}"/>
              </a:ext>
            </a:extLst>
          </p:cNvPr>
          <p:cNvSpPr>
            <a:spLocks noGrp="1"/>
          </p:cNvSpPr>
          <p:nvPr>
            <p:ph type="title"/>
          </p:nvPr>
        </p:nvSpPr>
        <p:spPr/>
        <p:txBody>
          <a:bodyPr/>
          <a:lstStyle/>
          <a:p>
            <a:r>
              <a:rPr lang="en-US" dirty="0"/>
              <a:t>A* Algorithm</a:t>
            </a:r>
            <a:endParaRPr lang="en-IN" dirty="0"/>
          </a:p>
        </p:txBody>
      </p:sp>
      <p:sp>
        <p:nvSpPr>
          <p:cNvPr id="3" name="Content Placeholder 2">
            <a:extLst>
              <a:ext uri="{FF2B5EF4-FFF2-40B4-BE49-F238E27FC236}">
                <a16:creationId xmlns:a16="http://schemas.microsoft.com/office/drawing/2014/main" xmlns="" id="{103A2A66-43F9-FC3C-6A75-0F4F2F8C6D17}"/>
              </a:ext>
            </a:extLst>
          </p:cNvPr>
          <p:cNvSpPr>
            <a:spLocks noGrp="1"/>
          </p:cNvSpPr>
          <p:nvPr>
            <p:ph idx="1"/>
          </p:nvPr>
        </p:nvSpPr>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A* is an informed (heuristic) search algorithm that combines the actual cost to reach a node and the estimated cost to the goal. </a:t>
            </a:r>
          </a:p>
          <a:p>
            <a:pPr>
              <a:lnSpc>
                <a:spcPct val="100000"/>
              </a:lnSpc>
            </a:pPr>
            <a:r>
              <a:rPr lang="en-US" dirty="0">
                <a:latin typeface="Times New Roman" panose="02020603050405020304" pitchFamily="18" charset="0"/>
                <a:cs typeface="Times New Roman" panose="02020603050405020304" pitchFamily="18" charset="0"/>
              </a:rPr>
              <a:t>It uses the evaluation function: f(n) = g(n) + h(n). </a:t>
            </a:r>
          </a:p>
          <a:p>
            <a:pPr marL="0" indent="0">
              <a:lnSpc>
                <a:spcPct val="100000"/>
              </a:lnSpc>
              <a:buNone/>
            </a:pPr>
            <a:r>
              <a:rPr lang="en-US" dirty="0">
                <a:latin typeface="Times New Roman" panose="02020603050405020304" pitchFamily="18" charset="0"/>
                <a:cs typeface="Times New Roman" panose="02020603050405020304" pitchFamily="18" charset="0"/>
              </a:rPr>
              <a:t>   Where  g(n) = actual cost from the start node to node n. </a:t>
            </a:r>
          </a:p>
          <a:p>
            <a:pPr marL="0" indent="0">
              <a:lnSpc>
                <a:spcPct val="100000"/>
              </a:lnSpc>
              <a:buNone/>
            </a:pPr>
            <a:r>
              <a:rPr lang="en-US" dirty="0">
                <a:latin typeface="Times New Roman" panose="02020603050405020304" pitchFamily="18" charset="0"/>
                <a:cs typeface="Times New Roman" panose="02020603050405020304" pitchFamily="18" charset="0"/>
              </a:rPr>
              <a:t>                h(n) = estimated cost from node n to the goal.</a:t>
            </a:r>
          </a:p>
          <a:p>
            <a:pPr>
              <a:lnSpc>
                <a:spcPct val="100000"/>
              </a:lnSpc>
            </a:pPr>
            <a:r>
              <a:rPr lang="en-US" dirty="0">
                <a:latin typeface="Times New Roman" panose="02020603050405020304" pitchFamily="18" charset="0"/>
                <a:cs typeface="Times New Roman" panose="02020603050405020304" pitchFamily="18" charset="0"/>
              </a:rPr>
              <a:t>The node with the lowest f(n) value is expanded first. </a:t>
            </a:r>
          </a:p>
          <a:p>
            <a:pPr>
              <a:lnSpc>
                <a:spcPct val="100000"/>
              </a:lnSpc>
            </a:pPr>
            <a:r>
              <a:rPr lang="en-US" dirty="0">
                <a:latin typeface="Times New Roman" panose="02020603050405020304" pitchFamily="18" charset="0"/>
                <a:cs typeface="Times New Roman" panose="02020603050405020304" pitchFamily="18" charset="0"/>
              </a:rPr>
              <a:t>With an admissible heuristic (and appropriate graph-search conditions), A* is complete and optimal.</a:t>
            </a:r>
          </a:p>
          <a:p>
            <a:endParaRPr lang="en-IN" dirty="0"/>
          </a:p>
        </p:txBody>
      </p:sp>
    </p:spTree>
    <p:extLst>
      <p:ext uri="{BB962C8B-B14F-4D97-AF65-F5344CB8AC3E}">
        <p14:creationId xmlns:p14="http://schemas.microsoft.com/office/powerpoint/2010/main" val="2994231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C227A6F-267E-FF57-FD4D-A40F0A804144}"/>
              </a:ext>
            </a:extLst>
          </p:cNvPr>
          <p:cNvPicPr>
            <a:picLocks noChangeAspect="1"/>
          </p:cNvPicPr>
          <p:nvPr/>
        </p:nvPicPr>
        <p:blipFill>
          <a:blip r:embed="rId2"/>
          <a:stretch>
            <a:fillRect/>
          </a:stretch>
        </p:blipFill>
        <p:spPr>
          <a:xfrm>
            <a:off x="1516284" y="393539"/>
            <a:ext cx="9387068" cy="5914663"/>
          </a:xfrm>
          <a:prstGeom prst="rect">
            <a:avLst/>
          </a:prstGeom>
        </p:spPr>
      </p:pic>
    </p:spTree>
    <p:extLst>
      <p:ext uri="{BB962C8B-B14F-4D97-AF65-F5344CB8AC3E}">
        <p14:creationId xmlns:p14="http://schemas.microsoft.com/office/powerpoint/2010/main" val="3299927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ED91E6B-7396-13BC-0A01-D23510F12CA1}"/>
              </a:ext>
            </a:extLst>
          </p:cNvPr>
          <p:cNvPicPr>
            <a:picLocks noChangeAspect="1"/>
          </p:cNvPicPr>
          <p:nvPr/>
        </p:nvPicPr>
        <p:blipFill>
          <a:blip r:embed="rId2"/>
          <a:stretch>
            <a:fillRect/>
          </a:stretch>
        </p:blipFill>
        <p:spPr>
          <a:xfrm>
            <a:off x="1412111" y="393539"/>
            <a:ext cx="9410218" cy="6261904"/>
          </a:xfrm>
          <a:prstGeom prst="rect">
            <a:avLst/>
          </a:prstGeom>
        </p:spPr>
      </p:pic>
    </p:spTree>
    <p:extLst>
      <p:ext uri="{BB962C8B-B14F-4D97-AF65-F5344CB8AC3E}">
        <p14:creationId xmlns:p14="http://schemas.microsoft.com/office/powerpoint/2010/main" val="4291962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7D0823-0577-61D8-4D82-8AB8D973D6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2241D6C-4BA0-A2B6-F9BE-98CBB891109A}"/>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Advantage</a:t>
            </a:r>
          </a:p>
          <a:p>
            <a:r>
              <a:rPr lang="en-US" dirty="0">
                <a:latin typeface="Times New Roman" panose="02020603050405020304" pitchFamily="18" charset="0"/>
                <a:cs typeface="Times New Roman" panose="02020603050405020304" pitchFamily="18" charset="0"/>
              </a:rPr>
              <a:t>Finds the optimal/shortest path when the heuristic is admissible.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 both actual cost and estimated cost: f(n) = g(n) + h(n). </a:t>
            </a:r>
          </a:p>
          <a:p>
            <a:r>
              <a:rPr lang="en-US" dirty="0">
                <a:latin typeface="Times New Roman" panose="02020603050405020304" pitchFamily="18" charset="0"/>
                <a:cs typeface="Times New Roman" panose="02020603050405020304" pitchFamily="18" charset="0"/>
              </a:rPr>
              <a:t>A good heuristic makes the search faster and more efficient. </a:t>
            </a:r>
          </a:p>
          <a:p>
            <a:pPr marL="0" indent="0">
              <a:buNone/>
            </a:pPr>
            <a:r>
              <a:rPr lang="en-IN" b="1" dirty="0">
                <a:latin typeface="Times New Roman" panose="02020603050405020304" pitchFamily="18" charset="0"/>
                <a:cs typeface="Times New Roman" panose="02020603050405020304" pitchFamily="18" charset="0"/>
              </a:rPr>
              <a:t>Disadvantage</a:t>
            </a:r>
          </a:p>
          <a:p>
            <a:r>
              <a:rPr lang="en-US" dirty="0">
                <a:latin typeface="Times New Roman" panose="02020603050405020304" pitchFamily="18" charset="0"/>
                <a:cs typeface="Times New Roman" panose="02020603050405020304" pitchFamily="18" charset="0"/>
              </a:rPr>
              <a:t>Requires high memory because it stores many generated nodes. </a:t>
            </a:r>
          </a:p>
          <a:p>
            <a:r>
              <a:rPr lang="en-US" dirty="0">
                <a:latin typeface="Times New Roman" panose="02020603050405020304" pitchFamily="18" charset="0"/>
                <a:cs typeface="Times New Roman" panose="02020603050405020304" pitchFamily="18" charset="0"/>
              </a:rPr>
              <a:t>Can be time-consuming for large search spaces.</a:t>
            </a:r>
          </a:p>
          <a:p>
            <a:r>
              <a:rPr lang="en-US" dirty="0">
                <a:latin typeface="Times New Roman" panose="02020603050405020304" pitchFamily="18" charset="0"/>
                <a:cs typeface="Times New Roman" panose="02020603050405020304" pitchFamily="18" charset="0"/>
              </a:rPr>
              <a:t>Performance depends heavily on the quality of the heuristic.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41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F14728-5D52-08C8-11BA-17C73C4B949F}"/>
              </a:ext>
            </a:extLst>
          </p:cNvPr>
          <p:cNvSpPr>
            <a:spLocks noGrp="1"/>
          </p:cNvSpPr>
          <p:nvPr>
            <p:ph type="title"/>
          </p:nvPr>
        </p:nvSpPr>
        <p:spPr/>
        <p:txBody>
          <a:bodyPr/>
          <a:lstStyle/>
          <a:p>
            <a:r>
              <a:rPr lang="en-IN" dirty="0"/>
              <a:t>AO* Algorithm</a:t>
            </a:r>
          </a:p>
        </p:txBody>
      </p:sp>
      <p:sp>
        <p:nvSpPr>
          <p:cNvPr id="3" name="Content Placeholder 2">
            <a:extLst>
              <a:ext uri="{FF2B5EF4-FFF2-40B4-BE49-F238E27FC236}">
                <a16:creationId xmlns:a16="http://schemas.microsoft.com/office/drawing/2014/main" xmlns="" id="{388E15D9-E491-D493-FD87-4B90DE8A5A6B}"/>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AO* is an informed search algorithm used to find optimal solutions in AND-OR graphs. </a:t>
            </a:r>
          </a:p>
          <a:p>
            <a:pPr algn="just">
              <a:lnSpc>
                <a:spcPct val="100000"/>
              </a:lnSpc>
            </a:pPr>
            <a:r>
              <a:rPr lang="en-US" dirty="0">
                <a:latin typeface="Times New Roman" panose="02020603050405020304" pitchFamily="18" charset="0"/>
                <a:cs typeface="Times New Roman" panose="02020603050405020304" pitchFamily="18" charset="0"/>
              </a:rPr>
              <a:t>It is an extension of the A* algorithm that can handle more complex decision structures. </a:t>
            </a:r>
          </a:p>
          <a:p>
            <a:pPr algn="just">
              <a:lnSpc>
                <a:spcPct val="100000"/>
              </a:lnSpc>
            </a:pPr>
            <a:r>
              <a:rPr lang="en-US" dirty="0">
                <a:latin typeface="Times New Roman" panose="02020603050405020304" pitchFamily="18" charset="0"/>
                <a:cs typeface="Times New Roman" panose="02020603050405020304" pitchFamily="18" charset="0"/>
              </a:rPr>
              <a:t>Unlike A* which generally selects one optimal path, AO* can select multiple subproblems that are connected through AND nodes. </a:t>
            </a:r>
          </a:p>
          <a:p>
            <a:pPr algn="just">
              <a:lnSpc>
                <a:spcPct val="100000"/>
              </a:lnSpc>
            </a:pPr>
            <a:r>
              <a:rPr lang="en-US" dirty="0">
                <a:latin typeface="Times New Roman" panose="02020603050405020304" pitchFamily="18" charset="0"/>
                <a:cs typeface="Times New Roman" panose="02020603050405020304" pitchFamily="18" charset="0"/>
              </a:rPr>
              <a:t>It uses heuristic information to estimate costs and guide the search efficiently.</a:t>
            </a:r>
          </a:p>
          <a:p>
            <a:endParaRPr lang="en-IN" dirty="0"/>
          </a:p>
        </p:txBody>
      </p:sp>
    </p:spTree>
    <p:extLst>
      <p:ext uri="{BB962C8B-B14F-4D97-AF65-F5344CB8AC3E}">
        <p14:creationId xmlns:p14="http://schemas.microsoft.com/office/powerpoint/2010/main" val="4162190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B7DC738-D97F-6997-8F76-ACB3714D0543}"/>
              </a:ext>
            </a:extLst>
          </p:cNvPr>
          <p:cNvPicPr>
            <a:picLocks noChangeAspect="1"/>
          </p:cNvPicPr>
          <p:nvPr/>
        </p:nvPicPr>
        <p:blipFill>
          <a:blip r:embed="rId2"/>
          <a:stretch>
            <a:fillRect/>
          </a:stretch>
        </p:blipFill>
        <p:spPr>
          <a:xfrm>
            <a:off x="1229360" y="396240"/>
            <a:ext cx="9865360" cy="5689600"/>
          </a:xfrm>
          <a:prstGeom prst="rect">
            <a:avLst/>
          </a:prstGeom>
        </p:spPr>
      </p:pic>
    </p:spTree>
    <p:extLst>
      <p:ext uri="{BB962C8B-B14F-4D97-AF65-F5344CB8AC3E}">
        <p14:creationId xmlns:p14="http://schemas.microsoft.com/office/powerpoint/2010/main" val="1894007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F4093E1-4D58-702B-0B1F-BD021F13C9DF}"/>
              </a:ext>
            </a:extLst>
          </p:cNvPr>
          <p:cNvPicPr>
            <a:picLocks noChangeAspect="1"/>
          </p:cNvPicPr>
          <p:nvPr/>
        </p:nvPicPr>
        <p:blipFill>
          <a:blip r:embed="rId2"/>
          <a:stretch>
            <a:fillRect/>
          </a:stretch>
        </p:blipFill>
        <p:spPr>
          <a:xfrm>
            <a:off x="1259840" y="396240"/>
            <a:ext cx="9814560" cy="5638800"/>
          </a:xfrm>
          <a:prstGeom prst="rect">
            <a:avLst/>
          </a:prstGeom>
        </p:spPr>
      </p:pic>
    </p:spTree>
    <p:extLst>
      <p:ext uri="{BB962C8B-B14F-4D97-AF65-F5344CB8AC3E}">
        <p14:creationId xmlns:p14="http://schemas.microsoft.com/office/powerpoint/2010/main" val="2392042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ED462F3-FA81-F631-C6A3-DCAC9D0ABA29}"/>
              </a:ext>
            </a:extLst>
          </p:cNvPr>
          <p:cNvPicPr>
            <a:picLocks noChangeAspect="1"/>
          </p:cNvPicPr>
          <p:nvPr/>
        </p:nvPicPr>
        <p:blipFill>
          <a:blip r:embed="rId2"/>
          <a:stretch>
            <a:fillRect/>
          </a:stretch>
        </p:blipFill>
        <p:spPr>
          <a:xfrm>
            <a:off x="2052320" y="447040"/>
            <a:ext cx="7873999" cy="5547360"/>
          </a:xfrm>
          <a:prstGeom prst="rect">
            <a:avLst/>
          </a:prstGeom>
        </p:spPr>
      </p:pic>
    </p:spTree>
    <p:extLst>
      <p:ext uri="{BB962C8B-B14F-4D97-AF65-F5344CB8AC3E}">
        <p14:creationId xmlns:p14="http://schemas.microsoft.com/office/powerpoint/2010/main" val="30627106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DBCC5D-8880-4976-62BB-74A318A5D1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D567270-64F4-24EF-CFFF-2387F1D78359}"/>
              </a:ext>
            </a:extLst>
          </p:cNvPr>
          <p:cNvSpPr>
            <a:spLocks noGrp="1"/>
          </p:cNvSpPr>
          <p:nvPr>
            <p:ph idx="1"/>
          </p:nvPr>
        </p:nvSpPr>
        <p:spPr/>
        <p:txBody>
          <a:bodyPr>
            <a:normAutofit fontScale="40000" lnSpcReduction="20000"/>
          </a:bodyPr>
          <a:lstStyle/>
          <a:p>
            <a:pPr marL="0" indent="0">
              <a:lnSpc>
                <a:spcPct val="120000"/>
              </a:lnSpc>
              <a:buNone/>
            </a:pPr>
            <a:r>
              <a:rPr lang="en-US" sz="5900" b="1" dirty="0">
                <a:latin typeface="Times New Roman" panose="02020603050405020304" pitchFamily="18" charset="0"/>
                <a:cs typeface="Times New Roman" panose="02020603050405020304" pitchFamily="18" charset="0"/>
              </a:rPr>
              <a:t>Advantages</a:t>
            </a:r>
          </a:p>
          <a:p>
            <a:pPr algn="just">
              <a:lnSpc>
                <a:spcPct val="120000"/>
              </a:lnSpc>
            </a:pPr>
            <a:r>
              <a:rPr lang="en-US" sz="5900" dirty="0">
                <a:latin typeface="Times New Roman" panose="02020603050405020304" pitchFamily="18" charset="0"/>
                <a:cs typeface="Times New Roman" panose="02020603050405020304" pitchFamily="18" charset="0"/>
              </a:rPr>
              <a:t>Efficient for complex AND OR problems</a:t>
            </a:r>
          </a:p>
          <a:p>
            <a:pPr algn="just">
              <a:lnSpc>
                <a:spcPct val="120000"/>
              </a:lnSpc>
            </a:pPr>
            <a:r>
              <a:rPr lang="en-US" sz="5900" dirty="0">
                <a:latin typeface="Times New Roman" panose="02020603050405020304" pitchFamily="18" charset="0"/>
                <a:cs typeface="Times New Roman" panose="02020603050405020304" pitchFamily="18" charset="0"/>
              </a:rPr>
              <a:t>Avoids exploring unnecessary branches</a:t>
            </a:r>
          </a:p>
          <a:p>
            <a:pPr algn="just">
              <a:lnSpc>
                <a:spcPct val="120000"/>
              </a:lnSpc>
            </a:pPr>
            <a:r>
              <a:rPr lang="en-US" sz="5900" dirty="0">
                <a:latin typeface="Times New Roman" panose="02020603050405020304" pitchFamily="18" charset="0"/>
                <a:cs typeface="Times New Roman" panose="02020603050405020304" pitchFamily="18" charset="0"/>
              </a:rPr>
              <a:t>Suitable for problem reduction approaches</a:t>
            </a:r>
          </a:p>
          <a:p>
            <a:pPr marL="0" indent="0">
              <a:lnSpc>
                <a:spcPct val="120000"/>
              </a:lnSpc>
              <a:buNone/>
            </a:pPr>
            <a:r>
              <a:rPr lang="en-US" sz="5900" b="1" dirty="0">
                <a:latin typeface="Times New Roman" panose="02020603050405020304" pitchFamily="18" charset="0"/>
                <a:cs typeface="Times New Roman" panose="02020603050405020304" pitchFamily="18" charset="0"/>
              </a:rPr>
              <a:t>Limitations</a:t>
            </a:r>
          </a:p>
          <a:p>
            <a:pPr>
              <a:lnSpc>
                <a:spcPct val="120000"/>
              </a:lnSpc>
            </a:pPr>
            <a:r>
              <a:rPr lang="en-US" sz="5900" dirty="0">
                <a:latin typeface="Times New Roman" panose="02020603050405020304" pitchFamily="18" charset="0"/>
                <a:cs typeface="Times New Roman" panose="02020603050405020304" pitchFamily="18" charset="0"/>
              </a:rPr>
              <a:t>Requires a good heuristic for better performance</a:t>
            </a:r>
          </a:p>
          <a:p>
            <a:pPr>
              <a:lnSpc>
                <a:spcPct val="120000"/>
              </a:lnSpc>
            </a:pPr>
            <a:r>
              <a:rPr lang="en-US" sz="5900" dirty="0">
                <a:latin typeface="Times New Roman" panose="02020603050405020304" pitchFamily="18" charset="0"/>
                <a:cs typeface="Times New Roman" panose="02020603050405020304" pitchFamily="18" charset="0"/>
              </a:rPr>
              <a:t>Implementation is more complex than A Star</a:t>
            </a:r>
          </a:p>
          <a:p>
            <a:pPr>
              <a:lnSpc>
                <a:spcPct val="120000"/>
              </a:lnSpc>
            </a:pPr>
            <a:r>
              <a:rPr lang="en-US" sz="5900" dirty="0">
                <a:latin typeface="Times New Roman" panose="02020603050405020304" pitchFamily="18" charset="0"/>
                <a:cs typeface="Times New Roman" panose="02020603050405020304" pitchFamily="18" charset="0"/>
              </a:rPr>
              <a:t>Can consume high memory for large graphs</a:t>
            </a:r>
            <a:r>
              <a:rPr lang="en-US" dirty="0"/>
              <a:t/>
            </a:r>
            <a:br>
              <a:rPr lang="en-US" dirty="0"/>
            </a:br>
            <a:endParaRPr lang="en-IN" dirty="0"/>
          </a:p>
        </p:txBody>
      </p:sp>
    </p:spTree>
    <p:extLst>
      <p:ext uri="{BB962C8B-B14F-4D97-AF65-F5344CB8AC3E}">
        <p14:creationId xmlns:p14="http://schemas.microsoft.com/office/powerpoint/2010/main" val="3043329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394E01-09B5-FF22-9BF1-292203C0E9F6}"/>
              </a:ext>
            </a:extLst>
          </p:cNvPr>
          <p:cNvSpPr>
            <a:spLocks noGrp="1"/>
          </p:cNvSpPr>
          <p:nvPr>
            <p:ph type="title"/>
          </p:nvPr>
        </p:nvSpPr>
        <p:spPr/>
        <p:txBody>
          <a:bodyPr/>
          <a:lstStyle/>
          <a:p>
            <a:r>
              <a:rPr lang="en-IN" dirty="0"/>
              <a:t>Hill Climbing Algorithm</a:t>
            </a:r>
          </a:p>
        </p:txBody>
      </p:sp>
      <p:sp>
        <p:nvSpPr>
          <p:cNvPr id="3" name="Content Placeholder 2">
            <a:extLst>
              <a:ext uri="{FF2B5EF4-FFF2-40B4-BE49-F238E27FC236}">
                <a16:creationId xmlns:a16="http://schemas.microsoft.com/office/drawing/2014/main" xmlns="" id="{8EE986F2-C5B1-5C76-C96A-B9FEFB78B1DF}"/>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Hill Climbing is a heuristic search algorithm used to find an optimal or near-optimal solution by repeatedly moving from the current state to a better neighboring state based on an evaluation function.</a:t>
            </a:r>
          </a:p>
          <a:p>
            <a:pPr algn="just">
              <a:lnSpc>
                <a:spcPct val="100000"/>
              </a:lnSpc>
            </a:pPr>
            <a:r>
              <a:rPr lang="en-US" dirty="0">
                <a:latin typeface="Times New Roman" panose="02020603050405020304" pitchFamily="18" charset="0"/>
                <a:cs typeface="Times New Roman" panose="02020603050405020304" pitchFamily="18" charset="0"/>
              </a:rPr>
              <a:t>Used to solve various optimization and search problems in AI.</a:t>
            </a:r>
          </a:p>
          <a:p>
            <a:pPr algn="just">
              <a:lnSpc>
                <a:spcPct val="100000"/>
              </a:lnSpc>
            </a:pPr>
            <a:r>
              <a:rPr lang="en-US" dirty="0">
                <a:latin typeface="Times New Roman" panose="02020603050405020304" pitchFamily="18" charset="0"/>
                <a:cs typeface="Times New Roman" panose="02020603050405020304" pitchFamily="18" charset="0"/>
              </a:rPr>
              <a:t>Improves the current solution by making small changes and evaluating them.</a:t>
            </a:r>
          </a:p>
          <a:p>
            <a:pPr algn="just">
              <a:lnSpc>
                <a:spcPct val="100000"/>
              </a:lnSpc>
            </a:pPr>
            <a:r>
              <a:rPr lang="en-US" dirty="0">
                <a:latin typeface="Times New Roman" panose="02020603050405020304" pitchFamily="18" charset="0"/>
                <a:cs typeface="Times New Roman" panose="02020603050405020304" pitchFamily="18" charset="0"/>
              </a:rPr>
              <a:t>Its simple logic makes it easy to implement and adapt to different problems.</a:t>
            </a:r>
          </a:p>
          <a:p>
            <a:endParaRPr lang="en-IN" dirty="0"/>
          </a:p>
        </p:txBody>
      </p:sp>
    </p:spTree>
    <p:extLst>
      <p:ext uri="{BB962C8B-B14F-4D97-AF65-F5344CB8AC3E}">
        <p14:creationId xmlns:p14="http://schemas.microsoft.com/office/powerpoint/2010/main" val="1882799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8E3D78-8502-EF3C-BF24-3836EEFF62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7B0A60B-40E1-F5AC-A9C3-741279E2E186}"/>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Types of Hill Climbing Search</a:t>
            </a:r>
            <a:endParaRPr lang="en-IN"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Simple Hill Climbing Algorithm</a:t>
            </a:r>
          </a:p>
          <a:p>
            <a:pPr algn="just">
              <a:lnSpc>
                <a:spcPct val="1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Steepest-Ascent Hill Climbing</a:t>
            </a:r>
          </a:p>
          <a:p>
            <a:pPr algn="just">
              <a:lnSpc>
                <a:spcPct val="1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Stochastic Hill Climbing</a:t>
            </a:r>
          </a:p>
        </p:txBody>
      </p:sp>
    </p:spTree>
    <p:extLst>
      <p:ext uri="{BB962C8B-B14F-4D97-AF65-F5344CB8AC3E}">
        <p14:creationId xmlns:p14="http://schemas.microsoft.com/office/powerpoint/2010/main" val="1974283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47C9EAD-6312-89B7-A0C9-D2A62635ABF1}"/>
              </a:ext>
            </a:extLst>
          </p:cNvPr>
          <p:cNvPicPr>
            <a:picLocks noChangeAspect="1"/>
          </p:cNvPicPr>
          <p:nvPr/>
        </p:nvPicPr>
        <p:blipFill>
          <a:blip r:embed="rId2"/>
          <a:stretch>
            <a:fillRect/>
          </a:stretch>
        </p:blipFill>
        <p:spPr>
          <a:xfrm>
            <a:off x="1402080" y="1219200"/>
            <a:ext cx="9489440" cy="5029200"/>
          </a:xfrm>
          <a:prstGeom prst="rect">
            <a:avLst/>
          </a:prstGeom>
        </p:spPr>
      </p:pic>
      <p:sp>
        <p:nvSpPr>
          <p:cNvPr id="4" name="TextBox 3">
            <a:extLst>
              <a:ext uri="{FF2B5EF4-FFF2-40B4-BE49-F238E27FC236}">
                <a16:creationId xmlns:a16="http://schemas.microsoft.com/office/drawing/2014/main" xmlns="" id="{0AA58DD8-081E-7493-116F-8FB9CED2F150}"/>
              </a:ext>
            </a:extLst>
          </p:cNvPr>
          <p:cNvSpPr txBox="1"/>
          <p:nvPr/>
        </p:nvSpPr>
        <p:spPr>
          <a:xfrm>
            <a:off x="1402080" y="640080"/>
            <a:ext cx="3698240" cy="523220"/>
          </a:xfrm>
          <a:prstGeom prst="rect">
            <a:avLst/>
          </a:prstGeom>
          <a:noFill/>
        </p:spPr>
        <p:txBody>
          <a:bodyPr wrap="square" rtlCol="0">
            <a:spAutoFit/>
          </a:bodyPr>
          <a:lstStyle/>
          <a:p>
            <a:r>
              <a:rPr lang="en-IN" sz="2800" b="1" dirty="0"/>
              <a:t>Visual representation</a:t>
            </a:r>
          </a:p>
        </p:txBody>
      </p:sp>
    </p:spTree>
    <p:extLst>
      <p:ext uri="{BB962C8B-B14F-4D97-AF65-F5344CB8AC3E}">
        <p14:creationId xmlns:p14="http://schemas.microsoft.com/office/powerpoint/2010/main" val="17160093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C9A917-0CD8-B185-E829-E8F42512DA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57B36A79-034E-1E57-428B-4CF9CEA8EEBB}"/>
              </a:ext>
            </a:extLst>
          </p:cNvPr>
          <p:cNvSpPr>
            <a:spLocks noGrp="1"/>
          </p:cNvSpPr>
          <p:nvPr>
            <p:ph idx="1"/>
          </p:nvPr>
        </p:nvSpPr>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Local Maximum</a:t>
            </a:r>
            <a:r>
              <a:rPr lang="en-US" dirty="0">
                <a:latin typeface="Times New Roman" panose="02020603050405020304" pitchFamily="18" charset="0"/>
                <a:cs typeface="Times New Roman" panose="02020603050405020304" pitchFamily="18" charset="0"/>
              </a:rPr>
              <a:t>: A state better than its neighboring states but not the best overall solution. </a:t>
            </a:r>
          </a:p>
          <a:p>
            <a:pPr marL="0" indent="0" algn="just">
              <a:buNone/>
            </a:pPr>
            <a:r>
              <a:rPr lang="en-US" b="1" dirty="0">
                <a:latin typeface="Times New Roman" panose="02020603050405020304" pitchFamily="18" charset="0"/>
                <a:cs typeface="Times New Roman" panose="02020603050405020304" pitchFamily="18" charset="0"/>
              </a:rPr>
              <a:t>Global Maximum</a:t>
            </a:r>
            <a:r>
              <a:rPr lang="en-US" dirty="0">
                <a:latin typeface="Times New Roman" panose="02020603050405020304" pitchFamily="18" charset="0"/>
                <a:cs typeface="Times New Roman" panose="02020603050405020304" pitchFamily="18" charset="0"/>
              </a:rPr>
              <a:t>: The state with the highest objective value in the entire search space. </a:t>
            </a:r>
          </a:p>
          <a:p>
            <a:pPr marL="0" indent="0" algn="just">
              <a:buNone/>
            </a:pPr>
            <a:r>
              <a:rPr lang="en-US" b="1" dirty="0">
                <a:latin typeface="Times New Roman" panose="02020603050405020304" pitchFamily="18" charset="0"/>
                <a:cs typeface="Times New Roman" panose="02020603050405020304" pitchFamily="18" charset="0"/>
              </a:rPr>
              <a:t>Plateau</a:t>
            </a:r>
            <a:r>
              <a:rPr lang="en-US" dirty="0">
                <a:latin typeface="Times New Roman" panose="02020603050405020304" pitchFamily="18" charset="0"/>
                <a:cs typeface="Times New Roman" panose="02020603050405020304" pitchFamily="18" charset="0"/>
              </a:rPr>
              <a:t>: A flat region where neighboring states have similar or equal values. </a:t>
            </a:r>
          </a:p>
          <a:p>
            <a:pPr marL="0" indent="0" algn="just">
              <a:buNone/>
            </a:pPr>
            <a:r>
              <a:rPr lang="en-US" b="1" dirty="0">
                <a:latin typeface="Times New Roman" panose="02020603050405020304" pitchFamily="18" charset="0"/>
                <a:cs typeface="Times New Roman" panose="02020603050405020304" pitchFamily="18" charset="0"/>
              </a:rPr>
              <a:t>Current State</a:t>
            </a:r>
            <a:r>
              <a:rPr lang="en-US" dirty="0">
                <a:latin typeface="Times New Roman" panose="02020603050405020304" pitchFamily="18" charset="0"/>
                <a:cs typeface="Times New Roman" panose="02020603050405020304" pitchFamily="18" charset="0"/>
              </a:rPr>
              <a:t>: The state where the algorithm is currently positioned during the search. </a:t>
            </a:r>
          </a:p>
          <a:p>
            <a:pPr marL="0" indent="0" algn="just">
              <a:buNone/>
            </a:pPr>
            <a:r>
              <a:rPr lang="en-US" b="1" dirty="0">
                <a:latin typeface="Times New Roman" panose="02020603050405020304" pitchFamily="18" charset="0"/>
                <a:cs typeface="Times New Roman" panose="02020603050405020304" pitchFamily="18" charset="0"/>
              </a:rPr>
              <a:t>Shoulder</a:t>
            </a:r>
            <a:r>
              <a:rPr lang="en-US" dirty="0">
                <a:latin typeface="Times New Roman" panose="02020603050405020304" pitchFamily="18" charset="0"/>
                <a:cs typeface="Times New Roman" panose="02020603050405020304" pitchFamily="18" charset="0"/>
              </a:rPr>
              <a:t>: A flat region with an upward edge that can lead to a better solution. </a:t>
            </a:r>
          </a:p>
          <a:p>
            <a:endParaRPr lang="en-IN" dirty="0"/>
          </a:p>
        </p:txBody>
      </p:sp>
    </p:spTree>
    <p:extLst>
      <p:ext uri="{BB962C8B-B14F-4D97-AF65-F5344CB8AC3E}">
        <p14:creationId xmlns:p14="http://schemas.microsoft.com/office/powerpoint/2010/main" val="1847296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43F06D-3215-9C61-B304-365C06A6BC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75A3CFC9-2275-6DD2-4C09-C3E931441219}"/>
              </a:ext>
            </a:extLst>
          </p:cNvPr>
          <p:cNvSpPr>
            <a:spLocks noGrp="1"/>
          </p:cNvSpPr>
          <p:nvPr>
            <p:ph idx="1"/>
          </p:nvPr>
        </p:nvSpPr>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Uses less memory. </a:t>
            </a:r>
          </a:p>
          <a:p>
            <a:pPr algn="just"/>
            <a:r>
              <a:rPr lang="en-US" dirty="0">
                <a:latin typeface="Times New Roman" panose="02020603050405020304" pitchFamily="18" charset="0"/>
                <a:cs typeface="Times New Roman" panose="02020603050405020304" pitchFamily="18" charset="0"/>
              </a:rPr>
              <a:t>Finds a good solution quickly. </a:t>
            </a:r>
          </a:p>
          <a:p>
            <a:pPr algn="just"/>
            <a:r>
              <a:rPr lang="en-US" dirty="0">
                <a:latin typeface="Times New Roman" panose="02020603050405020304" pitchFamily="18" charset="0"/>
                <a:cs typeface="Times New Roman" panose="02020603050405020304" pitchFamily="18" charset="0"/>
              </a:rPr>
              <a:t>Easy to customize according to the problem. </a:t>
            </a:r>
          </a:p>
          <a:p>
            <a:pPr marL="0" indent="0" algn="just">
              <a:buNone/>
            </a:pPr>
            <a:r>
              <a:rPr lang="en-US" b="1" dirty="0">
                <a:latin typeface="Times New Roman" panose="02020603050405020304" pitchFamily="18" charset="0"/>
                <a:cs typeface="Times New Roman" panose="02020603050405020304" pitchFamily="18" charset="0"/>
              </a:rPr>
              <a:t>Disadvantages</a:t>
            </a:r>
          </a:p>
          <a:p>
            <a:pPr algn="just"/>
            <a:r>
              <a:rPr lang="en-US" dirty="0">
                <a:latin typeface="Times New Roman" panose="02020603050405020304" pitchFamily="18" charset="0"/>
                <a:cs typeface="Times New Roman" panose="02020603050405020304" pitchFamily="18" charset="0"/>
              </a:rPr>
              <a:t>Can get stuck in a local optimum. </a:t>
            </a:r>
          </a:p>
          <a:p>
            <a:pPr algn="just"/>
            <a:r>
              <a:rPr lang="en-US" dirty="0">
                <a:latin typeface="Times New Roman" panose="02020603050405020304" pitchFamily="18" charset="0"/>
                <a:cs typeface="Times New Roman" panose="02020603050405020304" pitchFamily="18" charset="0"/>
              </a:rPr>
              <a:t>May get stuck on plateaus. </a:t>
            </a:r>
          </a:p>
          <a:p>
            <a:pPr algn="just"/>
            <a:r>
              <a:rPr lang="en-US" dirty="0">
                <a:latin typeface="Times New Roman" panose="02020603050405020304" pitchFamily="18" charset="0"/>
                <a:cs typeface="Times New Roman" panose="02020603050405020304" pitchFamily="18" charset="0"/>
              </a:rPr>
              <a:t>Difficult to handle ridges. </a:t>
            </a:r>
          </a:p>
          <a:p>
            <a:pPr algn="just"/>
            <a:r>
              <a:rPr lang="en-US" dirty="0">
                <a:latin typeface="Times New Roman" panose="02020603050405020304" pitchFamily="18" charset="0"/>
                <a:cs typeface="Times New Roman" panose="02020603050405020304" pitchFamily="18" charset="0"/>
              </a:rPr>
              <a:t>Depends on the initial state. </a:t>
            </a:r>
          </a:p>
          <a:p>
            <a:endParaRPr lang="en-IN" dirty="0"/>
          </a:p>
        </p:txBody>
      </p:sp>
    </p:spTree>
    <p:extLst>
      <p:ext uri="{BB962C8B-B14F-4D97-AF65-F5344CB8AC3E}">
        <p14:creationId xmlns:p14="http://schemas.microsoft.com/office/powerpoint/2010/main" val="2882359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F13C72-B3EE-004E-E9AB-FF11586D6B21}"/>
              </a:ext>
            </a:extLst>
          </p:cNvPr>
          <p:cNvSpPr>
            <a:spLocks noGrp="1"/>
          </p:cNvSpPr>
          <p:nvPr>
            <p:ph type="title"/>
          </p:nvPr>
        </p:nvSpPr>
        <p:spPr/>
        <p:txBody>
          <a:bodyPr/>
          <a:lstStyle/>
          <a:p>
            <a:r>
              <a:rPr lang="en-IN" dirty="0"/>
              <a:t>Knowledge Representation</a:t>
            </a:r>
          </a:p>
        </p:txBody>
      </p:sp>
      <p:sp>
        <p:nvSpPr>
          <p:cNvPr id="3" name="Content Placeholder 2">
            <a:extLst>
              <a:ext uri="{FF2B5EF4-FFF2-40B4-BE49-F238E27FC236}">
                <a16:creationId xmlns:a16="http://schemas.microsoft.com/office/drawing/2014/main" xmlns="" id="{FB878EE0-1E3E-F8F7-9632-C0CDD278E7A8}"/>
              </a:ext>
            </a:extLst>
          </p:cNvPr>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Knowledge Representation is the process of storing and organizing real-world knowledge in a structured form that AI systems can understand. </a:t>
            </a:r>
          </a:p>
          <a:p>
            <a:pPr algn="just">
              <a:lnSpc>
                <a:spcPct val="100000"/>
              </a:lnSpc>
            </a:pPr>
            <a:r>
              <a:rPr lang="en-US" dirty="0">
                <a:latin typeface="Times New Roman" panose="02020603050405020304" pitchFamily="18" charset="0"/>
                <a:cs typeface="Times New Roman" panose="02020603050405020304" pitchFamily="18" charset="0"/>
              </a:rPr>
              <a:t>It enables machines to reason, learn and make intelligent decisions. </a:t>
            </a:r>
          </a:p>
          <a:p>
            <a:pPr algn="just">
              <a:lnSpc>
                <a:spcPct val="100000"/>
              </a:lnSpc>
            </a:pPr>
            <a:r>
              <a:rPr lang="en-US" dirty="0">
                <a:latin typeface="Times New Roman" panose="02020603050405020304" pitchFamily="18" charset="0"/>
                <a:cs typeface="Times New Roman" panose="02020603050405020304" pitchFamily="18" charset="0"/>
              </a:rPr>
              <a:t>Helps AI perform reasoning and problem-solving tasks. </a:t>
            </a:r>
          </a:p>
          <a:p>
            <a:pPr algn="just">
              <a:lnSpc>
                <a:spcPct val="100000"/>
              </a:lnSpc>
            </a:pPr>
            <a:r>
              <a:rPr lang="en-US" dirty="0">
                <a:latin typeface="Times New Roman" panose="02020603050405020304" pitchFamily="18" charset="0"/>
                <a:cs typeface="Times New Roman" panose="02020603050405020304" pitchFamily="18" charset="0"/>
              </a:rPr>
              <a:t>Used in applications such as medical diagnosis, language understanding and expert systems. </a:t>
            </a:r>
          </a:p>
          <a:p>
            <a:pPr algn="just">
              <a:lnSpc>
                <a:spcPct val="100000"/>
              </a:lnSpc>
            </a:pPr>
            <a:r>
              <a:rPr lang="en-US" dirty="0">
                <a:latin typeface="Times New Roman" panose="02020603050405020304" pitchFamily="18" charset="0"/>
                <a:cs typeface="Times New Roman" panose="02020603050405020304" pitchFamily="18" charset="0"/>
              </a:rPr>
              <a:t>Allows AI to effectively use stored knowledge and past experiences.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744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AC7C1AB-32E3-D391-7CD5-1B1D3D9071C8}"/>
              </a:ext>
            </a:extLst>
          </p:cNvPr>
          <p:cNvPicPr>
            <a:picLocks noChangeAspect="1"/>
          </p:cNvPicPr>
          <p:nvPr/>
        </p:nvPicPr>
        <p:blipFill>
          <a:blip r:embed="rId2"/>
          <a:stretch>
            <a:fillRect/>
          </a:stretch>
        </p:blipFill>
        <p:spPr>
          <a:xfrm>
            <a:off x="1290320" y="650240"/>
            <a:ext cx="9641840" cy="5354320"/>
          </a:xfrm>
          <a:prstGeom prst="rect">
            <a:avLst/>
          </a:prstGeom>
        </p:spPr>
      </p:pic>
    </p:spTree>
    <p:extLst>
      <p:ext uri="{BB962C8B-B14F-4D97-AF65-F5344CB8AC3E}">
        <p14:creationId xmlns:p14="http://schemas.microsoft.com/office/powerpoint/2010/main" val="3150090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84E205FC-B4AF-B722-6E09-8AB8C87AB6C2}"/>
              </a:ext>
            </a:extLst>
          </p:cNvPr>
          <p:cNvPicPr>
            <a:picLocks noChangeAspect="1"/>
          </p:cNvPicPr>
          <p:nvPr/>
        </p:nvPicPr>
        <p:blipFill>
          <a:blip r:embed="rId2"/>
          <a:stretch>
            <a:fillRect/>
          </a:stretch>
        </p:blipFill>
        <p:spPr>
          <a:xfrm>
            <a:off x="934720" y="416560"/>
            <a:ext cx="10820400" cy="5994400"/>
          </a:xfrm>
          <a:prstGeom prst="rect">
            <a:avLst/>
          </a:prstGeom>
        </p:spPr>
      </p:pic>
    </p:spTree>
    <p:extLst>
      <p:ext uri="{BB962C8B-B14F-4D97-AF65-F5344CB8AC3E}">
        <p14:creationId xmlns:p14="http://schemas.microsoft.com/office/powerpoint/2010/main" val="3669170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21B38214-7412-294F-4BF9-42994FFA3B50}"/>
              </a:ext>
            </a:extLst>
          </p:cNvPr>
          <p:cNvPicPr>
            <a:picLocks noChangeAspect="1"/>
          </p:cNvPicPr>
          <p:nvPr/>
        </p:nvPicPr>
        <p:blipFill>
          <a:blip r:embed="rId2"/>
          <a:stretch>
            <a:fillRect/>
          </a:stretch>
        </p:blipFill>
        <p:spPr>
          <a:xfrm>
            <a:off x="1188720" y="629920"/>
            <a:ext cx="10160000" cy="5801360"/>
          </a:xfrm>
          <a:prstGeom prst="rect">
            <a:avLst/>
          </a:prstGeom>
        </p:spPr>
      </p:pic>
    </p:spTree>
    <p:extLst>
      <p:ext uri="{BB962C8B-B14F-4D97-AF65-F5344CB8AC3E}">
        <p14:creationId xmlns:p14="http://schemas.microsoft.com/office/powerpoint/2010/main" val="35573432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12E55A-CDC3-87D7-012C-92346B8F5B22}"/>
              </a:ext>
            </a:extLst>
          </p:cNvPr>
          <p:cNvSpPr>
            <a:spLocks noGrp="1"/>
          </p:cNvSpPr>
          <p:nvPr>
            <p:ph type="ctrTitle"/>
          </p:nvPr>
        </p:nvSpPr>
        <p:spPr/>
        <p:txBody>
          <a:bodyPr/>
          <a:lstStyle/>
          <a:p>
            <a:r>
              <a:rPr lang="en-IN" dirty="0"/>
              <a:t>THANK YOU!</a:t>
            </a:r>
          </a:p>
        </p:txBody>
      </p:sp>
      <p:sp>
        <p:nvSpPr>
          <p:cNvPr id="3" name="Subtitle 2">
            <a:extLst>
              <a:ext uri="{FF2B5EF4-FFF2-40B4-BE49-F238E27FC236}">
                <a16:creationId xmlns:a16="http://schemas.microsoft.com/office/drawing/2014/main" xmlns="" id="{1F57DDD3-B186-8D3F-A213-CDEDE132201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07584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TotalTime>
  <Words>1712</Words>
  <Application>Microsoft Office PowerPoint</Application>
  <PresentationFormat>Widescreen</PresentationFormat>
  <Paragraphs>169</Paragraphs>
  <Slides>50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Office Theme</vt:lpstr>
      <vt:lpstr>UNIT 2 Intelligent Agents and Problem solving</vt:lpstr>
      <vt:lpstr>Introduction to Agents and Environment</vt:lpstr>
      <vt:lpstr>PowerPoint Presentation</vt:lpstr>
      <vt:lpstr>Types of Agents</vt:lpstr>
      <vt:lpstr>Simple reflex agents</vt:lpstr>
      <vt:lpstr>PowerPoint Presentation</vt:lpstr>
      <vt:lpstr>Model-based reflex agents</vt:lpstr>
      <vt:lpstr>PowerPoint Presentation</vt:lpstr>
      <vt:lpstr>Goal-based Agents</vt:lpstr>
      <vt:lpstr>PowerPoint Presentation</vt:lpstr>
      <vt:lpstr>Utility-based agents </vt:lpstr>
      <vt:lpstr>PowerPoint Presentation</vt:lpstr>
      <vt:lpstr>Learning agents</vt:lpstr>
      <vt:lpstr>PowerPoint Presentation</vt:lpstr>
      <vt:lpstr>Nature of Environment and Agents</vt:lpstr>
      <vt:lpstr>Types of Environment</vt:lpstr>
      <vt:lpstr>PowerPoint Presentation</vt:lpstr>
      <vt:lpstr>PowerPoint Presentation</vt:lpstr>
      <vt:lpstr>PowerPoint Presentation</vt:lpstr>
      <vt:lpstr>PowerPoint Presentation</vt:lpstr>
      <vt:lpstr>PowerPoint Presentation</vt:lpstr>
      <vt:lpstr>Breadth-first search</vt:lpstr>
      <vt:lpstr>PowerPoint Presentation</vt:lpstr>
      <vt:lpstr>PowerPoint Presentation</vt:lpstr>
      <vt:lpstr>Depth-first search</vt:lpstr>
      <vt:lpstr>PowerPoint Presentation</vt:lpstr>
      <vt:lpstr>PowerPoint Presentation</vt:lpstr>
      <vt:lpstr>Greedy Best-first search</vt:lpstr>
      <vt:lpstr>PowerPoint Presentation</vt:lpstr>
      <vt:lpstr>PowerPoint Presentation</vt:lpstr>
      <vt:lpstr>PowerPoint Presentation</vt:lpstr>
      <vt:lpstr>A* Algorithm</vt:lpstr>
      <vt:lpstr>PowerPoint Presentation</vt:lpstr>
      <vt:lpstr>PowerPoint Presentation</vt:lpstr>
      <vt:lpstr>PowerPoint Presentation</vt:lpstr>
      <vt:lpstr>AO* Algorithm</vt:lpstr>
      <vt:lpstr>PowerPoint Presentation</vt:lpstr>
      <vt:lpstr>PowerPoint Presentation</vt:lpstr>
      <vt:lpstr>PowerPoint Presentation</vt:lpstr>
      <vt:lpstr>PowerPoint Presentation</vt:lpstr>
      <vt:lpstr>Hill Climbing Algorithm</vt:lpstr>
      <vt:lpstr>PowerPoint Presentation</vt:lpstr>
      <vt:lpstr>PowerPoint Presentation</vt:lpstr>
      <vt:lpstr>PowerPoint Presentation</vt:lpstr>
      <vt:lpstr>PowerPoint Presentation</vt:lpstr>
      <vt:lpstr>Knowledge Representation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Intelligent Agents and Problem solving</dc:title>
  <dc:creator>Varsha Vaishnav</dc:creator>
  <cp:lastModifiedBy>MyWorld</cp:lastModifiedBy>
  <cp:revision>91</cp:revision>
  <dcterms:created xsi:type="dcterms:W3CDTF">2026-09-05T09:18:56Z</dcterms:created>
  <dcterms:modified xsi:type="dcterms:W3CDTF">2026-09-16T05:52:31Z</dcterms:modified>
</cp:coreProperties>
</file>